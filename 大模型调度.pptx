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879" r:id="rId2"/>
    <p:sldId id="998" r:id="rId3"/>
    <p:sldId id="7793" r:id="rId4"/>
    <p:sldId id="7796" r:id="rId5"/>
    <p:sldId id="7797" r:id="rId6"/>
    <p:sldId id="779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333CC"/>
    <a:srgbClr val="2F528F"/>
    <a:srgbClr val="FFC5D0"/>
    <a:srgbClr val="D1FFA5"/>
    <a:srgbClr val="FFF9DF"/>
    <a:srgbClr val="E2E9EF"/>
    <a:srgbClr val="F0F9FD"/>
    <a:srgbClr val="F900FB"/>
    <a:srgbClr val="043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1" autoAdjust="0"/>
    <p:restoredTop sz="88014" autoAdjust="0"/>
  </p:normalViewPr>
  <p:slideViewPr>
    <p:cSldViewPr snapToGrid="0" showGuides="1">
      <p:cViewPr varScale="1">
        <p:scale>
          <a:sx n="140" d="100"/>
          <a:sy n="140" d="100"/>
        </p:scale>
        <p:origin x="804" y="114"/>
      </p:cViewPr>
      <p:guideLst>
        <p:guide orient="horz" pos="2245"/>
        <p:guide pos="38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1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47CD8-8CB8-BD4C-8E7A-8FD406E213F8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66155-A792-DC4F-BD62-B9BAC79C2D1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66155-A792-DC4F-BD62-B9BAC79C2D1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66155-A792-DC4F-BD62-B9BAC79C2D13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66155-A792-DC4F-BD62-B9BAC79C2D13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66155-A792-DC4F-BD62-B9BAC79C2D13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66155-A792-DC4F-BD62-B9BAC79C2D13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66155-A792-DC4F-BD62-B9BAC79C2D13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>
          <a:xfrm>
            <a:off x="304800" y="187169"/>
            <a:ext cx="8194675" cy="6667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rgbClr val="C00000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EF47082F-8D4E-4B7A-A85D-271FEA8C1D05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9D06654C-42CE-443D-A4F0-947D36DD946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391886" y="854968"/>
            <a:ext cx="11426042" cy="0"/>
          </a:xfrm>
          <a:prstGeom prst="line">
            <a:avLst/>
          </a:prstGeom>
          <a:ln w="4127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4"/>
          </p:nvPr>
        </p:nvSpPr>
        <p:spPr>
          <a:xfrm>
            <a:off x="304800" y="949936"/>
            <a:ext cx="11513128" cy="516187"/>
          </a:xfrm>
        </p:spPr>
        <p:txBody>
          <a:bodyPr wrap="square" tIns="0" bIns="46800">
            <a:spAutoFit/>
          </a:bodyPr>
          <a:lstStyle>
            <a:lvl1pPr marL="431800" indent="-43180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EF47082F-8D4E-4B7A-A85D-271FEA8C1D05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9D06654C-42CE-443D-A4F0-947D36DD94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EF47082F-8D4E-4B7A-A85D-271FEA8C1D05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9D06654C-42CE-443D-A4F0-947D36DD94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1">
              <a:lumMod val="10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1">
              <a:lumMod val="10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1">
              <a:lumMod val="10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5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11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image" Target="../media/image10.png"/><Relationship Id="rId2" Type="http://schemas.openxmlformats.org/officeDocument/2006/relationships/tags" Target="../tags/tag11.xml"/><Relationship Id="rId16" Type="http://schemas.openxmlformats.org/officeDocument/2006/relationships/image" Target="../media/image7.png"/><Relationship Id="rId20" Type="http://schemas.openxmlformats.org/officeDocument/2006/relationships/image" Target="../media/image13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19.xml"/><Relationship Id="rId19" Type="http://schemas.openxmlformats.org/officeDocument/2006/relationships/image" Target="../media/image12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/>
          <p:nvPr/>
        </p:nvSpPr>
        <p:spPr>
          <a:xfrm>
            <a:off x="876471" y="1331205"/>
            <a:ext cx="10508255" cy="166077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altLang="en-US" sz="4800" b="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charset="0"/>
              </a:rPr>
              <a:t>基于大模型多智能体</a:t>
            </a:r>
            <a:r>
              <a:rPr lang="zh-CN" altLang="en-US" sz="4800" b="1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的调度策略</a:t>
            </a:r>
            <a:endParaRPr lang="en-US" altLang="zh-CN" sz="4800" b="1" noProof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切换</a:t>
            </a:r>
            <a:r>
              <a:rPr lang="zh-CN" altLang="en-US" sz="4800" b="1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系统</a:t>
            </a:r>
            <a:endParaRPr lang="zh-CN" altLang="en-US" sz="4800" b="1" dirty="0">
              <a:solidFill>
                <a:srgbClr val="C00000"/>
              </a:solidFill>
              <a:latin typeface="+mn-ea"/>
              <a:ea typeface="+mn-ea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0656" y="3934827"/>
            <a:ext cx="6610688" cy="160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rtl="0" eaLnBrk="0" fontAlgn="base" latinLnBrk="0" hangingPunct="0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85000"/>
            </a:pPr>
            <a:r>
              <a:rPr lang="zh-CN" altLang="en-US" sz="3600" b="1" kern="0" dirty="0">
                <a:latin typeface="+mn-ea"/>
                <a:cs typeface="Times New Roman" panose="02020603050405020304" charset="0"/>
              </a:rPr>
              <a:t>浙江工业大学</a:t>
            </a:r>
            <a:endParaRPr lang="en-US" altLang="zh-CN" sz="3600" b="1" kern="0" dirty="0">
              <a:latin typeface="+mn-ea"/>
              <a:cs typeface="Times New Roman" panose="02020603050405020304" charset="0"/>
            </a:endParaRPr>
          </a:p>
          <a:p>
            <a:pPr marR="0" algn="ctr" defTabSz="914400" rtl="0" eaLnBrk="0" fontAlgn="base" latinLnBrk="0" hangingPunct="0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85000"/>
            </a:pPr>
            <a:r>
              <a:rPr lang="zh-CN" altLang="en-US" sz="3600" b="1" kern="0" dirty="0">
                <a:latin typeface="+mn-ea"/>
                <a:cs typeface="Times New Roman" panose="02020603050405020304" charset="0"/>
              </a:rPr>
              <a:t>网络空间安全研究院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741600" y="3388880"/>
            <a:ext cx="10708278" cy="0"/>
          </a:xfrm>
          <a:prstGeom prst="line">
            <a:avLst/>
          </a:prstGeom>
          <a:ln w="53975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3185913" y="5340626"/>
            <a:ext cx="1847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C00000"/>
              </a:buClr>
              <a:buSzPct val="85000"/>
            </a:pPr>
            <a:endParaRPr kumimoji="1" lang="zh-CN" altLang="en-US" sz="2600" ker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 descr="downl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360" y="96520"/>
            <a:ext cx="3981450" cy="114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kern="0" dirty="0" err="1">
                <a:latin typeface="+mn-ea"/>
                <a:cs typeface="Times New Roman" panose="02020603050405020304" charset="0"/>
              </a:rPr>
              <a:t>研究背景</a:t>
            </a:r>
            <a:endParaRPr lang="en-US" altLang="en-US" kern="0" dirty="0">
              <a:latin typeface="+mn-ea"/>
              <a:cs typeface="Times New Roman" panose="02020603050405020304" charset="0"/>
            </a:endParaRPr>
          </a:p>
        </p:txBody>
      </p:sp>
      <p:sp>
        <p:nvSpPr>
          <p:cNvPr id="13" name="文本占位符 4"/>
          <p:cNvSpPr txBox="1"/>
          <p:nvPr/>
        </p:nvSpPr>
        <p:spPr>
          <a:xfrm>
            <a:off x="609603" y="1013133"/>
            <a:ext cx="10972795" cy="1301673"/>
          </a:xfrm>
          <a:prstGeom prst="rect">
            <a:avLst/>
          </a:prstGeom>
        </p:spPr>
        <p:txBody>
          <a:bodyPr vert="horz" wrap="square" lIns="91440" tIns="0" rIns="91440" bIns="46800" rtlCol="0">
            <a:no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indent="-342265" algn="just"/>
            <a:r>
              <a:rPr lang="zh-CN" altLang="en-US" sz="2000" dirty="0"/>
              <a:t>在硬件资源异构化的场景下，根据需求对任务进行资源分配，实现高效率的资源利用和任务管理。面对任务资源需求的变化，单一调度策略无法满足需求，因此需要对调度策略进行动态的切换。</a:t>
            </a:r>
            <a:endParaRPr lang="zh-CN" altLang="en-US" sz="2000" dirty="0">
              <a:effectLst/>
              <a:latin typeface="+mn-ea"/>
              <a:ea typeface="+mn-ea"/>
            </a:endParaRPr>
          </a:p>
        </p:txBody>
      </p:sp>
      <p:sp>
        <p:nvSpPr>
          <p:cNvPr id="32" name="文本占位符 4"/>
          <p:cNvSpPr txBox="1"/>
          <p:nvPr/>
        </p:nvSpPr>
        <p:spPr>
          <a:xfrm>
            <a:off x="818671" y="5047124"/>
            <a:ext cx="10972795" cy="914400"/>
          </a:xfrm>
          <a:prstGeom prst="rect">
            <a:avLst/>
          </a:prstGeom>
        </p:spPr>
        <p:txBody>
          <a:bodyPr vert="horz" wrap="square" lIns="91440" tIns="0" rIns="91440" bIns="46800" rtlCol="0">
            <a:no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indent="-342265" algn="just"/>
            <a:r>
              <a:rPr lang="zh-CN" altLang="en-US" sz="2000" dirty="0"/>
              <a:t>策略切换本质是算法选择的过程，现有的算法选择方式主要是对问题和算法进行特征提取，计算双方之间的匹配度，通过模型学习从特征到算法的映射。但这种方式将算法看作黑箱，通过给人工添加特征来训练模型，无法实现跨场景迁移，也不具备对算法的可解释性。</a:t>
            </a:r>
            <a:endParaRPr lang="zh-CN" altLang="en-US" sz="2000" dirty="0">
              <a:latin typeface="+mn-ea"/>
              <a:ea typeface="+mn-ea"/>
              <a:cs typeface="Times New Roman" panose="0202060305040502030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D52754-1312-6E86-A7A3-3E0B64F9A0DB}"/>
              </a:ext>
            </a:extLst>
          </p:cNvPr>
          <p:cNvGrpSpPr/>
          <p:nvPr/>
        </p:nvGrpSpPr>
        <p:grpSpPr>
          <a:xfrm>
            <a:off x="526183" y="2508645"/>
            <a:ext cx="11139634" cy="2155184"/>
            <a:chOff x="526183" y="2462843"/>
            <a:chExt cx="11139634" cy="2155184"/>
          </a:xfrm>
        </p:grpSpPr>
        <p:sp>
          <p:nvSpPr>
            <p:cNvPr id="43" name="文本框 42"/>
            <p:cNvSpPr txBox="1"/>
            <p:nvPr/>
          </p:nvSpPr>
          <p:spPr>
            <a:xfrm>
              <a:off x="8592130" y="4197604"/>
              <a:ext cx="27232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+mn-ea"/>
                  <a:cs typeface="Times New Roman" panose="02020603050405020304" charset="0"/>
                </a:rPr>
                <a:t>高度依赖专业知识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275099" y="4197604"/>
              <a:ext cx="205994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0D0D0D"/>
                  </a:solidFill>
                  <a:latin typeface="+mn-ea"/>
                  <a:cs typeface="Times New Roman" panose="02020603050405020304" charset="0"/>
                </a:rPr>
                <a:t>动态适应能力不足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26183" y="4249727"/>
              <a:ext cx="3416691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D0D0D"/>
                  </a:solidFill>
                  <a:latin typeface="+mn-ea"/>
                  <a:cs typeface="Times New Roman" panose="02020603050405020304" charset="0"/>
                </a:rPr>
                <a:t>需要实时监控</a:t>
              </a:r>
            </a:p>
          </p:txBody>
        </p:sp>
        <p:pic>
          <p:nvPicPr>
            <p:cNvPr id="8" name="图片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18672" y="2471804"/>
              <a:ext cx="3167380" cy="1548000"/>
            </a:xfrm>
            <a:prstGeom prst="rect">
              <a:avLst/>
            </a:prstGeom>
          </p:spPr>
        </p:pic>
        <p:pic>
          <p:nvPicPr>
            <p:cNvPr id="9" name="图片 8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497817" y="2462843"/>
              <a:ext cx="3168000" cy="1548000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721379" y="2471804"/>
              <a:ext cx="3167380" cy="1548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1"/>
          <p:cNvSpPr>
            <a:spLocks noGrp="1"/>
          </p:cNvSpPr>
          <p:nvPr>
            <p:ph sz="quarter" idx="13"/>
          </p:nvPr>
        </p:nvSpPr>
        <p:spPr>
          <a:xfrm>
            <a:off x="304800" y="187325"/>
            <a:ext cx="10294620" cy="666750"/>
          </a:xfrm>
        </p:spPr>
        <p:txBody>
          <a:bodyPr anchor="b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ea"/>
                <a:cs typeface="Times New Roman" panose="02020603050405020304" charset="0"/>
              </a:rPr>
              <a:t>基于大模型多智能体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的调度策略切换系统</a:t>
            </a:r>
            <a:endParaRPr lang="zh-CN" altLang="en-US" dirty="0">
              <a:latin typeface="+mn-ea"/>
              <a:cs typeface="Times New Roman" panose="0202060305040502030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sz="quarter" idx="14"/>
          </p:nvPr>
        </p:nvSpPr>
        <p:spPr>
          <a:xfrm>
            <a:off x="304800" y="949936"/>
            <a:ext cx="11651848" cy="562610"/>
          </a:xfrm>
        </p:spPr>
        <p:txBody>
          <a:bodyPr/>
          <a:lstStyle/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研究背景</a:t>
            </a:r>
          </a:p>
        </p:txBody>
      </p:sp>
      <p:sp>
        <p:nvSpPr>
          <p:cNvPr id="29" name="矩形 28"/>
          <p:cNvSpPr/>
          <p:nvPr/>
        </p:nvSpPr>
        <p:spPr>
          <a:xfrm>
            <a:off x="789161" y="5202707"/>
            <a:ext cx="11021060" cy="1169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  <a:cs typeface="Times New Roman" panose="02020603050405020304" charset="0"/>
                <a:sym typeface="+mn-ea"/>
              </a:rPr>
              <a:t>关键问题：</a:t>
            </a:r>
            <a:r>
              <a:rPr lang="zh-CN" altLang="en-US" sz="2000" b="1" kern="0" dirty="0">
                <a:ea typeface="微软雅黑" panose="020B0503020204020204" pitchFamily="34" charset="-122"/>
              </a:rPr>
              <a:t>大模型的推理范式与调度系统的运行机制存在冲突。</a:t>
            </a:r>
            <a:endParaRPr lang="en-US" altLang="zh-CN" sz="2000" b="1" kern="0" dirty="0"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/>
              <a:t>调度系统依赖于对集群底层状态的实时监测，而大模型则依赖自然语言表征、静态上下文窗口与高成本推理流程。</a:t>
            </a:r>
            <a:endParaRPr lang="zh-CN" altLang="en-US" sz="2000" b="1" kern="0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160" y="1466850"/>
            <a:ext cx="11021060" cy="1169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000" b="1" kern="0" dirty="0">
                <a:ea typeface="微软雅黑" panose="020B0503020204020204" pitchFamily="34" charset="-122"/>
                <a:sym typeface="+mn-ea"/>
              </a:rPr>
              <a:t>大语言模型（LLM）驱动的多智能体系统在多个领域成功应用。大模型可以</a:t>
            </a:r>
            <a:r>
              <a:rPr lang="zh-CN" altLang="en-US" sz="2000" b="1" kern="0" dirty="0">
                <a:ea typeface="微软雅黑" panose="020B0503020204020204" pitchFamily="34" charset="-122"/>
              </a:rPr>
              <a:t>将代码、指标、自然语言映射到同一高维语义空间，拥有跨语言的理解能力，从而可以实现集群需求和策略优势的端到端匹配。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8D22929-79D0-BAB7-8D1D-A9CA5E73190C}"/>
              </a:ext>
            </a:extLst>
          </p:cNvPr>
          <p:cNvGrpSpPr/>
          <p:nvPr/>
        </p:nvGrpSpPr>
        <p:grpSpPr>
          <a:xfrm>
            <a:off x="7044257" y="2890897"/>
            <a:ext cx="3167380" cy="2109909"/>
            <a:chOff x="6921427" y="3096656"/>
            <a:chExt cx="3167380" cy="2109909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11C49F5-C1DB-93CB-C2B6-8B3FCD0C9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1427" y="3096656"/>
              <a:ext cx="3167380" cy="154800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35F4192-8312-F056-2DC9-8145DC4C51B0}"/>
                </a:ext>
              </a:extLst>
            </p:cNvPr>
            <p:cNvSpPr txBox="1"/>
            <p:nvPr/>
          </p:nvSpPr>
          <p:spPr>
            <a:xfrm>
              <a:off x="7708278" y="4837233"/>
              <a:ext cx="15936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D0D0D"/>
                  </a:solidFill>
                  <a:latin typeface="+mn-ea"/>
                  <a:cs typeface="Times New Roman" panose="02020603050405020304" charset="0"/>
                </a:rPr>
                <a:t>专业知识扩展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D175742-CAA1-15A7-46BE-36CC52080608}"/>
              </a:ext>
            </a:extLst>
          </p:cNvPr>
          <p:cNvGrpSpPr/>
          <p:nvPr/>
        </p:nvGrpSpPr>
        <p:grpSpPr>
          <a:xfrm>
            <a:off x="1476272" y="2901253"/>
            <a:ext cx="3167380" cy="2108877"/>
            <a:chOff x="1476273" y="3096656"/>
            <a:chExt cx="3167380" cy="210887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936A155-0508-8700-1B83-97AAE6F5B85D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76273" y="3096656"/>
              <a:ext cx="3167380" cy="15480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E43AA2C-ABF1-55DE-328F-011A8CBC3569}"/>
                </a:ext>
              </a:extLst>
            </p:cNvPr>
            <p:cNvSpPr txBox="1"/>
            <p:nvPr/>
          </p:nvSpPr>
          <p:spPr>
            <a:xfrm>
              <a:off x="1476273" y="4837233"/>
              <a:ext cx="300745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latin typeface="+mn-ea"/>
                  <a:cs typeface="Times New Roman" panose="02020603050405020304" charset="0"/>
                </a:rPr>
                <a:t>跨文本语义融合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304800" y="949936"/>
            <a:ext cx="11651848" cy="520528"/>
          </a:xfrm>
        </p:spPr>
        <p:txBody>
          <a:bodyPr/>
          <a:lstStyle/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挑战</a:t>
            </a:r>
          </a:p>
        </p:txBody>
      </p:sp>
      <p:sp>
        <p:nvSpPr>
          <p:cNvPr id="12" name="矩形 11"/>
          <p:cNvSpPr/>
          <p:nvPr/>
        </p:nvSpPr>
        <p:spPr>
          <a:xfrm>
            <a:off x="579120" y="1470464"/>
            <a:ext cx="11445240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b="1" kern="0" dirty="0">
                <a:ea typeface="微软雅黑" panose="020B0503020204020204" pitchFamily="34" charset="-122"/>
              </a:rPr>
              <a:t>大模型输入上下文窗口与集群状态输入结构之间的冲突</a:t>
            </a:r>
            <a:endParaRPr lang="zh-CN" altLang="en-US" sz="2000" b="1" kern="0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sz="quarter" idx="13"/>
          </p:nvPr>
        </p:nvSpPr>
        <p:spPr>
          <a:xfrm>
            <a:off x="304800" y="187325"/>
            <a:ext cx="10527665" cy="666750"/>
          </a:xfrm>
        </p:spPr>
        <p:txBody>
          <a:bodyPr anchor="b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ea"/>
                <a:cs typeface="Times New Roman" panose="02020603050405020304" charset="0"/>
              </a:rPr>
              <a:t>基于大模型多智能体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的调度策略切换系统</a:t>
            </a:r>
            <a:endParaRPr lang="zh-CN" altLang="en-US" dirty="0">
              <a:latin typeface="+mn-ea"/>
              <a:cs typeface="Times New Roman" panose="02020603050405020304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26291" y="5345961"/>
            <a:ext cx="11377295" cy="116903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将复杂系统指标转换为紧凑、高语义、结构化的“集群状态统计”。</a:t>
            </a:r>
            <a:endParaRPr lang="en-US" altLang="zh-CN" sz="2000" dirty="0"/>
          </a:p>
          <a:p>
            <a:pPr algn="just">
              <a:lnSpc>
                <a:spcPct val="120000"/>
              </a:lnSpc>
            </a:pPr>
            <a:r>
              <a:rPr lang="en-US" altLang="zh-CN" sz="2000" dirty="0"/>
              <a:t>    </a:t>
            </a:r>
            <a:r>
              <a:rPr lang="zh-CN" altLang="en-US" sz="2000" dirty="0"/>
              <a:t>动态拼接当前集群状态与资源诉求。</a:t>
            </a:r>
            <a:endParaRPr lang="en-US" altLang="zh-CN" sz="2000" dirty="0"/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对集群状态进行采样，输出集群变化趋势，替</a:t>
            </a:r>
            <a:r>
              <a:rPr lang="en-US" altLang="zh-CN" sz="2000" dirty="0"/>
              <a:t>LLM</a:t>
            </a:r>
            <a:r>
              <a:rPr lang="zh-CN" altLang="en-US" sz="2000" dirty="0"/>
              <a:t>完成数据差分。</a:t>
            </a:r>
            <a:endParaRPr lang="en-US" altLang="zh-CN" sz="20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62381EA-A436-CE77-208A-5B6AD9BC4254}"/>
              </a:ext>
            </a:extLst>
          </p:cNvPr>
          <p:cNvGrpSpPr/>
          <p:nvPr/>
        </p:nvGrpSpPr>
        <p:grpSpPr>
          <a:xfrm>
            <a:off x="1098146" y="3310685"/>
            <a:ext cx="7153538" cy="1228817"/>
            <a:chOff x="2210439" y="2476279"/>
            <a:chExt cx="7153538" cy="1228817"/>
          </a:xfrm>
        </p:grpSpPr>
        <p:sp>
          <p:nvSpPr>
            <p:cNvPr id="14" name="文本框 365">
              <a:extLst>
                <a:ext uri="{FF2B5EF4-FFF2-40B4-BE49-F238E27FC236}">
                  <a16:creationId xmlns:a16="http://schemas.microsoft.com/office/drawing/2014/main" id="{EC846BC8-38A7-9180-EB7D-1E1A94C3348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2210439" y="3377622"/>
              <a:ext cx="1065530" cy="3198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 defTabSz="685800"/>
              <a:r>
                <a:rPr lang="zh-CN" altLang="en-US" sz="12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结构化数据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CEB13D3-72FC-C130-924E-D7778BAB9725}"/>
                </a:ext>
              </a:extLst>
            </p:cNvPr>
            <p:cNvCxnSpPr>
              <a:cxnSpLocks/>
            </p:cNvCxnSpPr>
            <p:nvPr>
              <p:custDataLst>
                <p:tags r:id="rId2"/>
              </p:custDataLst>
            </p:nvPr>
          </p:nvCxnSpPr>
          <p:spPr>
            <a:xfrm>
              <a:off x="3419878" y="2916011"/>
              <a:ext cx="85610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0D88C3B0-6A8B-D300-5E6C-486212FF47E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3322519" y="2618891"/>
              <a:ext cx="1049020" cy="276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抽象化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pic>
          <p:nvPicPr>
            <p:cNvPr id="25" name="图片 24" descr="机器人">
              <a:extLst>
                <a:ext uri="{FF2B5EF4-FFF2-40B4-BE49-F238E27FC236}">
                  <a16:creationId xmlns:a16="http://schemas.microsoft.com/office/drawing/2014/main" id="{92E9B2E8-5EF0-5B86-A723-13E6EE807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77032" y="2565613"/>
              <a:ext cx="540000" cy="540000"/>
            </a:xfrm>
            <a:prstGeom prst="rect">
              <a:avLst/>
            </a:prstGeom>
          </p:spPr>
        </p:pic>
        <p:sp>
          <p:nvSpPr>
            <p:cNvPr id="26" name="文本框 365">
              <a:extLst>
                <a:ext uri="{FF2B5EF4-FFF2-40B4-BE49-F238E27FC236}">
                  <a16:creationId xmlns:a16="http://schemas.microsoft.com/office/drawing/2014/main" id="{34ACD5BE-402A-0FF2-80F0-ED2D49573F2A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4372441" y="3377623"/>
              <a:ext cx="1065530" cy="3198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 defTabSz="685800"/>
              <a:r>
                <a:rPr lang="zh-CN" altLang="en-US" sz="12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集群状态统计</a:t>
              </a:r>
            </a:p>
          </p:txBody>
        </p:sp>
        <p:pic>
          <p:nvPicPr>
            <p:cNvPr id="27" name="图片 26" descr="图标&#10;&#10;描述已自动生成">
              <a:extLst>
                <a:ext uri="{FF2B5EF4-FFF2-40B4-BE49-F238E27FC236}">
                  <a16:creationId xmlns:a16="http://schemas.microsoft.com/office/drawing/2014/main" id="{93FE9D2C-CCBF-5605-0B02-1DF647DBAD3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456655" y="2566315"/>
              <a:ext cx="632986" cy="632986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6A7FF0B3-5344-92BF-7E10-2D3CF381A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8862" y="2476279"/>
              <a:ext cx="862665" cy="862665"/>
            </a:xfrm>
            <a:prstGeom prst="rect">
              <a:avLst/>
            </a:prstGeom>
          </p:spPr>
        </p:pic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01463AD-EC69-C84D-C618-6932DE465119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5742272" y="2907611"/>
              <a:ext cx="85610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B2EE95A1-960A-D4F5-F806-3A93EA030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1422" y="2476279"/>
              <a:ext cx="738094" cy="738094"/>
            </a:xfrm>
            <a:prstGeom prst="rect">
              <a:avLst/>
            </a:prstGeom>
          </p:spPr>
        </p:pic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8DF9573-EF18-1C11-04C2-6B20859B5197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>
              <a:off x="7539228" y="2916011"/>
              <a:ext cx="85610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65">
              <a:extLst>
                <a:ext uri="{FF2B5EF4-FFF2-40B4-BE49-F238E27FC236}">
                  <a16:creationId xmlns:a16="http://schemas.microsoft.com/office/drawing/2014/main" id="{246ACA73-5905-132F-C289-4B40D18623D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421880" y="3377622"/>
              <a:ext cx="1205352" cy="3198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 defTabSz="685800"/>
              <a:r>
                <a:rPr lang="zh-CN" altLang="en-US" sz="12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状态监控智能体</a:t>
              </a:r>
            </a:p>
          </p:txBody>
        </p:sp>
        <p:sp>
          <p:nvSpPr>
            <p:cNvPr id="33" name="文本框 365">
              <a:extLst>
                <a:ext uri="{FF2B5EF4-FFF2-40B4-BE49-F238E27FC236}">
                  <a16:creationId xmlns:a16="http://schemas.microsoft.com/office/drawing/2014/main" id="{8FBEE3DF-D2E4-C7CA-58C3-C40B4759EE4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8298447" y="3385261"/>
              <a:ext cx="1065530" cy="3198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 defTabSz="685800"/>
              <a:r>
                <a:rPr lang="zh-CN" altLang="en-US" sz="12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集群状态描述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B55A3BC3-37EC-AF21-9FF3-FED9F226AF3A}"/>
              </a:ext>
            </a:extLst>
          </p:cNvPr>
          <p:cNvSpPr/>
          <p:nvPr/>
        </p:nvSpPr>
        <p:spPr>
          <a:xfrm>
            <a:off x="1017178" y="1949166"/>
            <a:ext cx="11377295" cy="79970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上下文窗口限制以及集群结构化状态导致输入冗长</a:t>
            </a:r>
            <a:endParaRPr lang="en-US" altLang="zh-CN" sz="2000" dirty="0"/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/>
              <a:t>LLM </a:t>
            </a:r>
            <a:r>
              <a:rPr lang="zh-CN" altLang="en-US" sz="2000" dirty="0"/>
              <a:t>难以从碎片化状态中构建整体语义，容易忽视整体状态</a:t>
            </a:r>
            <a:endParaRPr lang="zh-CN" altLang="en-US" sz="2000" b="1" dirty="0">
              <a:solidFill>
                <a:srgbClr val="0000CC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50" name="内容占位符 2">
            <a:extLst>
              <a:ext uri="{FF2B5EF4-FFF2-40B4-BE49-F238E27FC236}">
                <a16:creationId xmlns:a16="http://schemas.microsoft.com/office/drawing/2014/main" id="{8A5E0C46-7B01-D24F-0A0C-947C79E1EBDB}"/>
              </a:ext>
            </a:extLst>
          </p:cNvPr>
          <p:cNvSpPr txBox="1">
            <a:spLocks/>
          </p:cNvSpPr>
          <p:nvPr/>
        </p:nvSpPr>
        <p:spPr>
          <a:xfrm>
            <a:off x="475816" y="4766588"/>
            <a:ext cx="11651848" cy="520528"/>
          </a:xfrm>
          <a:prstGeom prst="rect">
            <a:avLst/>
          </a:prstGeom>
        </p:spPr>
        <p:txBody>
          <a:bodyPr vert="horz" wrap="square" lIns="91440" tIns="0" rIns="91440" bIns="46800" rtlCol="0">
            <a:sp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方案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304800" y="949936"/>
            <a:ext cx="11651848" cy="520528"/>
          </a:xfrm>
        </p:spPr>
        <p:txBody>
          <a:bodyPr/>
          <a:lstStyle/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挑战</a:t>
            </a:r>
          </a:p>
        </p:txBody>
      </p:sp>
      <p:sp>
        <p:nvSpPr>
          <p:cNvPr id="12" name="矩形 11"/>
          <p:cNvSpPr/>
          <p:nvPr/>
        </p:nvSpPr>
        <p:spPr>
          <a:xfrm>
            <a:off x="579120" y="1466850"/>
            <a:ext cx="11445240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b="1" kern="0" dirty="0">
                <a:ea typeface="微软雅黑" panose="020B0503020204020204" pitchFamily="34" charset="-122"/>
              </a:rPr>
              <a:t>单个智能体难以同时承担集群监控、状态抽象与策略切换的全流程</a:t>
            </a:r>
            <a:endParaRPr lang="zh-CN" altLang="en-US" sz="2000" b="1" kern="0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sz="quarter" idx="13"/>
          </p:nvPr>
        </p:nvSpPr>
        <p:spPr>
          <a:xfrm>
            <a:off x="304800" y="187325"/>
            <a:ext cx="10356215" cy="666750"/>
          </a:xfrm>
        </p:spPr>
        <p:txBody>
          <a:bodyPr anchor="b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ea"/>
                <a:cs typeface="Times New Roman" panose="02020603050405020304" charset="0"/>
              </a:rPr>
              <a:t>基于大模型多智能体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的调度策略切换系统</a:t>
            </a:r>
            <a:endParaRPr lang="zh-CN" altLang="en-US" dirty="0">
              <a:latin typeface="+mn-ea"/>
              <a:cs typeface="Times New Roman" panose="02020603050405020304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49968" y="1979343"/>
            <a:ext cx="11377930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总结学习与策略推理在能力需求上冲突</a:t>
            </a:r>
            <a:endParaRPr lang="en-US" altLang="zh-CN" sz="2000" dirty="0"/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单个智能体的上下文膨胀问题。前期信息可能被遗忘，后期推理质量不稳定</a:t>
            </a:r>
            <a:endParaRPr lang="zh-CN" altLang="en-US" sz="2000" b="1" dirty="0">
              <a:solidFill>
                <a:srgbClr val="0000CC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pic>
        <p:nvPicPr>
          <p:cNvPr id="31" name="图片 30" descr="机器人">
            <a:extLst>
              <a:ext uri="{FF2B5EF4-FFF2-40B4-BE49-F238E27FC236}">
                <a16:creationId xmlns:a16="http://schemas.microsoft.com/office/drawing/2014/main" id="{893C66A3-3AAF-9165-8F3E-533BD87F6C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2273" y="2989120"/>
            <a:ext cx="540000" cy="540000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1BE9FA5-7B54-1890-B618-23C2E7C882F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6825228" y="4128603"/>
            <a:ext cx="0" cy="33421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69C8C976-7092-3DBC-A54D-2838639CA9F7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663" y="2899786"/>
            <a:ext cx="738094" cy="738094"/>
          </a:xfrm>
          <a:prstGeom prst="rect">
            <a:avLst/>
          </a:prstGeom>
        </p:spPr>
      </p:pic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0624DB6-E6E9-3CD6-B9B6-F9657D4BBE33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3574469" y="3339518"/>
            <a:ext cx="85610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365">
            <a:extLst>
              <a:ext uri="{FF2B5EF4-FFF2-40B4-BE49-F238E27FC236}">
                <a16:creationId xmlns:a16="http://schemas.microsoft.com/office/drawing/2014/main" id="{247CBF00-8DB4-F358-6A89-F68D73DEEDE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7121" y="3801129"/>
            <a:ext cx="1205352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状态监控智能体</a:t>
            </a:r>
          </a:p>
        </p:txBody>
      </p:sp>
      <p:sp>
        <p:nvSpPr>
          <p:cNvPr id="48" name="文本框 365">
            <a:extLst>
              <a:ext uri="{FF2B5EF4-FFF2-40B4-BE49-F238E27FC236}">
                <a16:creationId xmlns:a16="http://schemas.microsoft.com/office/drawing/2014/main" id="{FB7306E4-91E3-A921-F4E9-143DD349941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333688" y="3808768"/>
            <a:ext cx="1065530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集群状态描述</a:t>
            </a:r>
          </a:p>
        </p:txBody>
      </p:sp>
      <p:pic>
        <p:nvPicPr>
          <p:cNvPr id="50" name="图片 49" descr="机器人">
            <a:extLst>
              <a:ext uri="{FF2B5EF4-FFF2-40B4-BE49-F238E27FC236}">
                <a16:creationId xmlns:a16="http://schemas.microsoft.com/office/drawing/2014/main" id="{E74C0AF4-6C59-17E9-2228-732EAA22A0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25585" y="2989975"/>
            <a:ext cx="540000" cy="540000"/>
          </a:xfrm>
          <a:prstGeom prst="rect">
            <a:avLst/>
          </a:prstGeom>
        </p:spPr>
      </p:pic>
      <p:sp>
        <p:nvSpPr>
          <p:cNvPr id="52" name="文本框 365">
            <a:extLst>
              <a:ext uri="{FF2B5EF4-FFF2-40B4-BE49-F238E27FC236}">
                <a16:creationId xmlns:a16="http://schemas.microsoft.com/office/drawing/2014/main" id="{D0929601-BEB2-DD53-A867-ABA12A83D40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70433" y="3801984"/>
            <a:ext cx="1205352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策略选择智能体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D6E88CD-AC6D-80FC-63DA-DD3373EE562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037" y="4521958"/>
            <a:ext cx="703874" cy="703874"/>
          </a:xfrm>
          <a:prstGeom prst="rect">
            <a:avLst/>
          </a:prstGeom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27F4F25-22F5-0F4B-C679-7B8D14E31B76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459264" y="3339518"/>
            <a:ext cx="85610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 descr="机器人">
            <a:extLst>
              <a:ext uri="{FF2B5EF4-FFF2-40B4-BE49-F238E27FC236}">
                <a16:creationId xmlns:a16="http://schemas.microsoft.com/office/drawing/2014/main" id="{7329A532-8061-3813-B34D-CFDAB1AB55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55710" y="4573739"/>
            <a:ext cx="540000" cy="540000"/>
          </a:xfrm>
          <a:prstGeom prst="rect">
            <a:avLst/>
          </a:prstGeom>
        </p:spPr>
      </p:pic>
      <p:sp>
        <p:nvSpPr>
          <p:cNvPr id="76" name="文本框 365">
            <a:extLst>
              <a:ext uri="{FF2B5EF4-FFF2-40B4-BE49-F238E27FC236}">
                <a16:creationId xmlns:a16="http://schemas.microsoft.com/office/drawing/2014/main" id="{D5D8AAFF-307B-543A-E081-647E11EEB25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323034" y="5237584"/>
            <a:ext cx="1205352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策略总结智能体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E8BC710C-B39B-AA84-3655-850CF520626B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5504299" y="4856738"/>
            <a:ext cx="85610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A28F3D0A-C8EA-6B29-2451-66386EC5DC82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381" y="4293454"/>
            <a:ext cx="932378" cy="932378"/>
          </a:xfrm>
          <a:prstGeom prst="rect">
            <a:avLst/>
          </a:prstGeom>
        </p:spPr>
      </p:pic>
      <p:sp>
        <p:nvSpPr>
          <p:cNvPr id="81" name="文本框 365">
            <a:extLst>
              <a:ext uri="{FF2B5EF4-FFF2-40B4-BE49-F238E27FC236}">
                <a16:creationId xmlns:a16="http://schemas.microsoft.com/office/drawing/2014/main" id="{4CBBA5AD-2ABF-016C-AF1C-3E84A19CEEB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602746" y="5237584"/>
            <a:ext cx="1205352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调度策略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15984635-F5D3-CD87-EE5E-6DEC1CA3941C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3705069" y="4843739"/>
            <a:ext cx="85610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2A4A172D-8AA0-C93A-08CC-ED05C768BD01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7365402" y="3339518"/>
            <a:ext cx="85610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042D5DBA-3D9C-12F9-7B1D-73F15EE7C7DA}"/>
              </a:ext>
            </a:extLst>
          </p:cNvPr>
          <p:cNvGrpSpPr/>
          <p:nvPr/>
        </p:nvGrpSpPr>
        <p:grpSpPr>
          <a:xfrm>
            <a:off x="8497187" y="2774124"/>
            <a:ext cx="1061110" cy="1131836"/>
            <a:chOff x="7844045" y="2440403"/>
            <a:chExt cx="1061110" cy="1131836"/>
          </a:xfrm>
        </p:grpSpPr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9B903783-6673-F2A1-CDB4-68628A067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4045" y="2440403"/>
              <a:ext cx="852188" cy="852188"/>
            </a:xfrm>
            <a:prstGeom prst="rect">
              <a:avLst/>
            </a:prstGeom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3A2DDB32-5E07-FEFD-2381-AE743B8AD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506" y="2596497"/>
              <a:ext cx="852188" cy="852188"/>
            </a:xfrm>
            <a:prstGeom prst="rect">
              <a:avLst/>
            </a:prstGeom>
          </p:spPr>
        </p:pic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C1C40CFF-EB73-1F41-FE4D-AAECE5B0C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2967" y="2720051"/>
              <a:ext cx="852188" cy="852188"/>
            </a:xfrm>
            <a:prstGeom prst="rect">
              <a:avLst/>
            </a:prstGeom>
          </p:spPr>
        </p:pic>
      </p:grpSp>
      <p:sp>
        <p:nvSpPr>
          <p:cNvPr id="90" name="文本框 365">
            <a:extLst>
              <a:ext uri="{FF2B5EF4-FFF2-40B4-BE49-F238E27FC236}">
                <a16:creationId xmlns:a16="http://schemas.microsoft.com/office/drawing/2014/main" id="{A139C68B-5BBC-3893-59DD-08947BB83B5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529527" y="3838819"/>
            <a:ext cx="1205352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策略部署</a:t>
            </a:r>
          </a:p>
        </p:txBody>
      </p:sp>
      <p:sp>
        <p:nvSpPr>
          <p:cNvPr id="91" name="文本框 365">
            <a:extLst>
              <a:ext uri="{FF2B5EF4-FFF2-40B4-BE49-F238E27FC236}">
                <a16:creationId xmlns:a16="http://schemas.microsoft.com/office/drawing/2014/main" id="{560E042A-48C5-8B33-19B7-40CA48EA0853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257298" y="5278967"/>
            <a:ext cx="1205352" cy="319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 defTabSz="685800"/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策略知识库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EFDD109-17E1-778F-AF96-9A8E1A682899}"/>
              </a:ext>
            </a:extLst>
          </p:cNvPr>
          <p:cNvSpPr/>
          <p:nvPr/>
        </p:nvSpPr>
        <p:spPr>
          <a:xfrm>
            <a:off x="808399" y="5799495"/>
            <a:ext cx="11377930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监控智能体输出标准化的“集群</a:t>
            </a:r>
            <a:r>
              <a:rPr lang="zh-CN" altLang="en-US" sz="20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状态描述</a:t>
            </a:r>
            <a:r>
              <a:rPr lang="zh-CN" altLang="en-US" sz="2000" dirty="0"/>
              <a:t>”，策略智能体基于这些摘要再结合知识库进行推理</a:t>
            </a:r>
            <a:endParaRPr lang="en-US" altLang="zh-CN" sz="2000" dirty="0"/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在策略选择智能体中引入了结构化的思维链推理流程。</a:t>
            </a:r>
            <a:endParaRPr lang="zh-CN" altLang="en-US" sz="2000" b="1" dirty="0">
              <a:solidFill>
                <a:srgbClr val="0000CC"/>
              </a:solidFill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95" name="内容占位符 2">
            <a:extLst>
              <a:ext uri="{FF2B5EF4-FFF2-40B4-BE49-F238E27FC236}">
                <a16:creationId xmlns:a16="http://schemas.microsoft.com/office/drawing/2014/main" id="{C7F93AFA-97D4-50AE-730D-A253D5510017}"/>
              </a:ext>
            </a:extLst>
          </p:cNvPr>
          <p:cNvSpPr txBox="1">
            <a:spLocks/>
          </p:cNvSpPr>
          <p:nvPr/>
        </p:nvSpPr>
        <p:spPr>
          <a:xfrm>
            <a:off x="534481" y="5162623"/>
            <a:ext cx="11651848" cy="520528"/>
          </a:xfrm>
          <a:prstGeom prst="rect">
            <a:avLst/>
          </a:prstGeom>
        </p:spPr>
        <p:txBody>
          <a:bodyPr vert="horz" wrap="square" lIns="91440" tIns="0" rIns="91440" bIns="46800" rtlCol="0">
            <a:sp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方案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304800" y="949936"/>
            <a:ext cx="11651848" cy="520528"/>
          </a:xfrm>
        </p:spPr>
        <p:txBody>
          <a:bodyPr/>
          <a:lstStyle/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实验指标</a:t>
            </a:r>
          </a:p>
        </p:txBody>
      </p:sp>
      <p:sp>
        <p:nvSpPr>
          <p:cNvPr id="4" name="内容占位符 1"/>
          <p:cNvSpPr>
            <a:spLocks noGrp="1"/>
          </p:cNvSpPr>
          <p:nvPr>
            <p:ph sz="quarter" idx="13"/>
          </p:nvPr>
        </p:nvSpPr>
        <p:spPr>
          <a:xfrm>
            <a:off x="304800" y="187325"/>
            <a:ext cx="10340975" cy="666750"/>
          </a:xfrm>
        </p:spPr>
        <p:txBody>
          <a:bodyPr anchor="b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n-ea"/>
                <a:cs typeface="Times New Roman" panose="02020603050405020304" charset="0"/>
              </a:rPr>
              <a:t>基于大模型多智能体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的调度策略切换系统</a:t>
            </a:r>
            <a:endParaRPr lang="zh-CN" altLang="en-US" dirty="0">
              <a:latin typeface="+mn-ea"/>
              <a:cs typeface="Times New Roman" panose="0202060305040502030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64898" y="4460407"/>
            <a:ext cx="10904855" cy="1061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我们将平均作业完成时间（</a:t>
            </a:r>
            <a:r>
              <a:rPr lang="en-US" altLang="zh-CN" dirty="0"/>
              <a:t>JCT</a:t>
            </a:r>
            <a:r>
              <a:rPr lang="zh-CN" altLang="en-US" dirty="0"/>
              <a:t>）以及系统吞吐量作为衡量策略效率的指标。对于策略的</a:t>
            </a:r>
            <a:r>
              <a:rPr lang="en-US" altLang="zh-CN" dirty="0"/>
              <a:t>SLO</a:t>
            </a:r>
            <a:r>
              <a:rPr lang="zh-CN" altLang="en-US" dirty="0"/>
              <a:t>需求，我们采用</a:t>
            </a:r>
            <a:r>
              <a:rPr lang="en-US" altLang="zh-CN" dirty="0"/>
              <a:t>SLO</a:t>
            </a:r>
            <a:r>
              <a:rPr lang="zh-CN" altLang="en-US" dirty="0"/>
              <a:t>满足率（满足截止时间的作业百分比）作为指标。对于策略的成本需求，我们采用基于</a:t>
            </a:r>
            <a:r>
              <a:rPr lang="en-US" altLang="zh-CN" dirty="0"/>
              <a:t>AWS/GCP</a:t>
            </a:r>
            <a:r>
              <a:rPr lang="zh-CN" altLang="en-US" dirty="0"/>
              <a:t>定价的成本作为指标。</a:t>
            </a:r>
            <a:endParaRPr lang="zh-CN" altLang="en-US" sz="2000" b="1" dirty="0">
              <a:solidFill>
                <a:schemeClr val="tx1"/>
              </a:solidFill>
              <a:latin typeface="+mn-ea"/>
              <a:cs typeface="Times New Roman" panose="02020603050405020304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2237554-21A6-1A82-F281-974D95681797}"/>
              </a:ext>
            </a:extLst>
          </p:cNvPr>
          <p:cNvSpPr txBox="1">
            <a:spLocks/>
          </p:cNvSpPr>
          <p:nvPr/>
        </p:nvSpPr>
        <p:spPr>
          <a:xfrm>
            <a:off x="821084" y="1444438"/>
            <a:ext cx="11651848" cy="520528"/>
          </a:xfrm>
          <a:prstGeom prst="rect">
            <a:avLst/>
          </a:prstGeom>
        </p:spPr>
        <p:txBody>
          <a:bodyPr vert="horz" wrap="square" lIns="91440" tIns="0" rIns="91440" bIns="46800" rtlCol="0">
            <a:sp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场景及负载</a:t>
            </a:r>
            <a:endParaRPr lang="en-US" altLang="zh-CN" kern="1200" dirty="0">
              <a:latin typeface="+mn-ea"/>
              <a:ea typeface="+mn-ea"/>
              <a:cs typeface="Times New Roman" panose="020206030504050203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E0681A-41E4-AEFF-3B93-7194E9D76BF3}"/>
              </a:ext>
            </a:extLst>
          </p:cNvPr>
          <p:cNvSpPr/>
          <p:nvPr/>
        </p:nvSpPr>
        <p:spPr>
          <a:xfrm>
            <a:off x="905759" y="1850228"/>
            <a:ext cx="10904855" cy="2058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gavel</a:t>
            </a:r>
            <a:r>
              <a:rPr lang="zh-CN" altLang="en-US" dirty="0"/>
              <a:t>文中的模拟器上按照按</a:t>
            </a:r>
            <a:r>
              <a:rPr lang="en-US" altLang="zh-CN" dirty="0"/>
              <a:t>36:36:36</a:t>
            </a:r>
            <a:r>
              <a:rPr lang="zh-CN" altLang="en-US" dirty="0"/>
              <a:t>比例配置</a:t>
            </a:r>
            <a:r>
              <a:rPr lang="en-US" altLang="zh-CN" dirty="0"/>
              <a:t>V100</a:t>
            </a:r>
            <a:r>
              <a:rPr lang="zh-CN" altLang="en-US" dirty="0"/>
              <a:t>、</a:t>
            </a:r>
            <a:r>
              <a:rPr lang="en-US" altLang="zh-CN" dirty="0"/>
              <a:t>P100</a:t>
            </a:r>
            <a:r>
              <a:rPr lang="zh-CN" altLang="en-US" dirty="0"/>
              <a:t>和</a:t>
            </a:r>
            <a:r>
              <a:rPr lang="en-US" altLang="zh-CN" dirty="0"/>
              <a:t>K80 GPU</a:t>
            </a:r>
            <a:r>
              <a:rPr lang="zh-CN" altLang="en-US" dirty="0"/>
              <a:t>的异构集群。而负载设计则参考</a:t>
            </a:r>
            <a:r>
              <a:rPr lang="en-US" altLang="zh-CN" dirty="0"/>
              <a:t>Alibaba Cluster Data V2018</a:t>
            </a:r>
            <a:r>
              <a:rPr lang="zh-CN" altLang="en-US" dirty="0"/>
              <a:t>，每条</a:t>
            </a:r>
            <a:r>
              <a:rPr lang="en-US" altLang="zh-CN" dirty="0"/>
              <a:t>Trace</a:t>
            </a:r>
            <a:r>
              <a:rPr lang="zh-CN" altLang="en-US" dirty="0"/>
              <a:t>包含</a:t>
            </a:r>
            <a:r>
              <a:rPr lang="en-US" altLang="zh-CN" dirty="0"/>
              <a:t>500</a:t>
            </a:r>
            <a:r>
              <a:rPr lang="zh-CN" altLang="en-US" dirty="0"/>
              <a:t>个作业，参数从反映真实</a:t>
            </a:r>
            <a:r>
              <a:rPr lang="en-US" altLang="zh-CN" dirty="0"/>
              <a:t>trace</a:t>
            </a:r>
            <a:r>
              <a:rPr lang="zh-CN" altLang="en-US" dirty="0"/>
              <a:t>负载的分布中采样。</a:t>
            </a:r>
            <a:endParaRPr lang="en-US" altLang="zh-CN" dirty="0"/>
          </a:p>
          <a:p>
            <a:pPr algn="just">
              <a:lnSpc>
                <a:spcPct val="120000"/>
              </a:lnSpc>
            </a:pPr>
            <a:r>
              <a:rPr lang="zh-CN" altLang="en-US" dirty="0"/>
              <a:t>任务采取持续向集群添加新任务的方式，时间跨度为</a:t>
            </a:r>
            <a:r>
              <a:rPr lang="en-US" altLang="zh-CN" dirty="0"/>
              <a:t>4-5</a:t>
            </a:r>
            <a:r>
              <a:rPr lang="zh-CN" altLang="en-US" dirty="0"/>
              <a:t>天，确保能够在实验中观测到不同需求模式的作业分布。到达时间服从泊松过程，其到达间隔率参数为</a:t>
            </a:r>
            <a:r>
              <a:rPr lang="en-US" altLang="zh-CN" dirty="0"/>
              <a:t>λ</a:t>
            </a:r>
            <a:r>
              <a:rPr lang="zh-CN" altLang="en-US" dirty="0"/>
              <a:t>，可以通过调整</a:t>
            </a:r>
            <a:r>
              <a:rPr lang="en-US" altLang="zh-CN" dirty="0"/>
              <a:t>λ</a:t>
            </a:r>
            <a:r>
              <a:rPr lang="zh-CN" altLang="en-US" dirty="0"/>
              <a:t>来调整集群的负载，模拟现实集群中的作业需求高低峰交错。作业类型分布为：</a:t>
            </a:r>
            <a:r>
              <a:rPr lang="en-US" altLang="zh-CN" dirty="0"/>
              <a:t>SLO</a:t>
            </a:r>
            <a:r>
              <a:rPr lang="zh-CN" altLang="en-US" dirty="0"/>
              <a:t>严格度均匀分为三档比例为</a:t>
            </a:r>
            <a:r>
              <a:rPr lang="en-US" altLang="zh-CN" dirty="0"/>
              <a:t>1:1:1</a:t>
            </a:r>
            <a:r>
              <a:rPr lang="zh-CN" altLang="en-US" dirty="0"/>
              <a:t>，以测试该框架在不同服务质量要求下的表现。每个作业的规模因子参考微软的公开</a:t>
            </a:r>
            <a:r>
              <a:rPr lang="en-US" altLang="zh-CN" dirty="0"/>
              <a:t>trace</a:t>
            </a:r>
            <a:r>
              <a:rPr lang="zh-CN" altLang="en-US" dirty="0"/>
              <a:t>，</a:t>
            </a:r>
            <a:r>
              <a:rPr lang="en-US" altLang="zh-CN" dirty="0" err="1"/>
              <a:t>scale_factor</a:t>
            </a:r>
            <a:r>
              <a:rPr lang="en-US" altLang="zh-CN" dirty="0"/>
              <a:t> ∈ {1,2,4,8}</a:t>
            </a:r>
            <a:endParaRPr lang="zh-CN" altLang="en-US" sz="2000" b="1" dirty="0">
              <a:solidFill>
                <a:schemeClr val="tx1"/>
              </a:solidFill>
              <a:latin typeface="+mn-ea"/>
              <a:cs typeface="Times New Roman" panose="0202060305040502030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0CC3E4A-B963-6EDB-AAF5-D1320094B89E}"/>
              </a:ext>
            </a:extLst>
          </p:cNvPr>
          <p:cNvSpPr txBox="1">
            <a:spLocks/>
          </p:cNvSpPr>
          <p:nvPr/>
        </p:nvSpPr>
        <p:spPr>
          <a:xfrm>
            <a:off x="821084" y="3919163"/>
            <a:ext cx="11651848" cy="520528"/>
          </a:xfrm>
          <a:prstGeom prst="rect">
            <a:avLst/>
          </a:prstGeom>
        </p:spPr>
        <p:txBody>
          <a:bodyPr vert="horz" wrap="square" lIns="91440" tIns="0" rIns="91440" bIns="46800" rtlCol="0">
            <a:sp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指标</a:t>
            </a:r>
            <a:endParaRPr lang="en-US" altLang="zh-CN" kern="1200" dirty="0">
              <a:latin typeface="+mn-ea"/>
              <a:ea typeface="+mn-ea"/>
              <a:cs typeface="Times New Roman" panose="0202060305040502030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959AA8E-810A-503B-BF05-8FCF5A16384F}"/>
              </a:ext>
            </a:extLst>
          </p:cNvPr>
          <p:cNvSpPr txBox="1">
            <a:spLocks/>
          </p:cNvSpPr>
          <p:nvPr/>
        </p:nvSpPr>
        <p:spPr>
          <a:xfrm>
            <a:off x="905759" y="5595002"/>
            <a:ext cx="11651848" cy="520528"/>
          </a:xfrm>
          <a:prstGeom prst="rect">
            <a:avLst/>
          </a:prstGeom>
        </p:spPr>
        <p:txBody>
          <a:bodyPr vert="horz" wrap="square" lIns="91440" tIns="0" rIns="91440" bIns="46800" rtlCol="0">
            <a:spAutoFit/>
          </a:bodyPr>
          <a:lstStyle>
            <a:lvl1pPr marL="431800" indent="-4318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defRPr lang="zh-CN" altLang="en-US" sz="2800" b="1" kern="0" smtClean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kern="1200" dirty="0">
                <a:latin typeface="+mn-ea"/>
                <a:ea typeface="+mn-ea"/>
                <a:cs typeface="Times New Roman" panose="02020603050405020304" charset="0"/>
              </a:rPr>
              <a:t>基线</a:t>
            </a:r>
            <a:endParaRPr lang="en-US" altLang="zh-CN" kern="1200" dirty="0">
              <a:latin typeface="+mn-ea"/>
              <a:ea typeface="+mn-ea"/>
              <a:cs typeface="Times New Roman" panose="0202060305040502030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91D9F3-B80D-59FD-0474-286E53D9AC20}"/>
              </a:ext>
            </a:extLst>
          </p:cNvPr>
          <p:cNvSpPr/>
          <p:nvPr/>
        </p:nvSpPr>
        <p:spPr>
          <a:xfrm>
            <a:off x="964899" y="6100614"/>
            <a:ext cx="10904855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传统算法选择作为基线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AS-LLM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anose="02020603050405020304" charset="0"/>
              </a:rPr>
              <a:t>，</a:t>
            </a:r>
            <a:r>
              <a:rPr lang="en-US" altLang="zh-CN" dirty="0" err="1"/>
              <a:t>AutoFolio</a:t>
            </a:r>
            <a:endParaRPr lang="zh-CN" altLang="en-US" sz="2000" b="1" dirty="0">
              <a:solidFill>
                <a:schemeClr val="tx1"/>
              </a:solidFill>
              <a:latin typeface="+mn-ea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8.5867716535433,&quot;left&quot;:84.6,&quot;top&quot;:116.05,&quot;width&quot;:652.1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全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marR="0" algn="l" defTabSz="914400" rtl="0" eaLnBrk="0" fontAlgn="base" latinLnBrk="0" hangingPunct="0">
          <a:lnSpc>
            <a:spcPct val="100000"/>
          </a:lnSpc>
          <a:spcBef>
            <a:spcPts val="1200"/>
          </a:spcBef>
          <a:spcAft>
            <a:spcPts val="600"/>
          </a:spcAft>
          <a:buClr>
            <a:srgbClr val="C00000"/>
          </a:buClr>
          <a:buSzPct val="85000"/>
          <a:defRPr sz="2600" kern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5327</TotalTime>
  <Words>740</Words>
  <Application>Microsoft Office PowerPoint</Application>
  <PresentationFormat>宽屏</PresentationFormat>
  <Paragraphs>61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Chengyuan He</dc:creator>
  <cp:lastModifiedBy>zh y</cp:lastModifiedBy>
  <cp:revision>3832</cp:revision>
  <dcterms:created xsi:type="dcterms:W3CDTF">1900-01-01T00:00:00Z</dcterms:created>
  <dcterms:modified xsi:type="dcterms:W3CDTF">2025-11-20T04:35:19Z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65C5E28C4CE79389DC92E867EEB8A3FF_43</vt:lpwstr>
  </property>
  <property fmtid="{D5CDD505-2E9C-101B-9397-08002B2CF9AE}" pid="3" name="KSOProductBuildVer">
    <vt:lpwstr>2052-12.1.0.22215</vt:lpwstr>
  </property>
</Properties>
</file>