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879" r:id="rId2"/>
    <p:sldId id="998" r:id="rId3"/>
    <p:sldId id="7793" r:id="rId4"/>
    <p:sldId id="7796" r:id="rId5"/>
    <p:sldId id="7797" r:id="rId6"/>
    <p:sldId id="7800" r:id="rId7"/>
    <p:sldId id="7799"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5" userDrawn="1">
          <p15:clr>
            <a:srgbClr val="A4A3A4"/>
          </p15:clr>
        </p15:guide>
        <p15:guide id="2" pos="38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3333CC"/>
    <a:srgbClr val="2F528F"/>
    <a:srgbClr val="FFC5D0"/>
    <a:srgbClr val="D1FFA5"/>
    <a:srgbClr val="FFF9DF"/>
    <a:srgbClr val="E2E9EF"/>
    <a:srgbClr val="F0F9FD"/>
    <a:srgbClr val="F900FB"/>
    <a:srgbClr val="043B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6233" autoAdjust="0"/>
  </p:normalViewPr>
  <p:slideViewPr>
    <p:cSldViewPr snapToGrid="0" showGuides="1">
      <p:cViewPr varScale="1">
        <p:scale>
          <a:sx n="104" d="100"/>
          <a:sy n="104" d="100"/>
        </p:scale>
        <p:origin x="76" y="116"/>
      </p:cViewPr>
      <p:guideLst>
        <p:guide orient="horz" pos="2245"/>
        <p:guide pos="3862"/>
      </p:guideLst>
    </p:cSldViewPr>
  </p:slideViewPr>
  <p:notesTextViewPr>
    <p:cViewPr>
      <p:scale>
        <a:sx n="100" d="100"/>
        <a:sy n="100" d="100"/>
      </p:scale>
      <p:origin x="0" y="0"/>
    </p:cViewPr>
  </p:notesTextViewPr>
  <p:sorterViewPr>
    <p:cViewPr>
      <p:scale>
        <a:sx n="75" d="100"/>
        <a:sy n="75" d="100"/>
      </p:scale>
      <p:origin x="0" y="-112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247CD8-8CB8-BD4C-8E7A-8FD406E213F8}" type="datetimeFigureOut">
              <a:rPr kumimoji="1" lang="zh-CN" altLang="en-US" smtClean="0"/>
              <a:t>2025/11/27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366155-A792-DC4F-BD62-B9BAC79C2D13}"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A366155-A792-DC4F-BD62-B9BAC79C2D13}" type="slidenum">
              <a:rPr kumimoji="1" lang="zh-CN" altLang="en-US" smtClean="0"/>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A366155-A792-DC4F-BD62-B9BAC79C2D13}" type="slidenum">
              <a:rPr kumimoji="1" lang="zh-CN" altLang="en-US" smtClean="0"/>
              <a:t>2</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9A366155-A792-DC4F-BD62-B9BAC79C2D13}" type="slidenum">
              <a:rPr kumimoji="1" lang="zh-CN" altLang="en-US" smtClean="0"/>
              <a:t>3</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9A366155-A792-DC4F-BD62-B9BAC79C2D13}" type="slidenum">
              <a:rPr kumimoji="1" lang="zh-CN" altLang="en-US" smtClean="0"/>
              <a:t>4</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9A366155-A792-DC4F-BD62-B9BAC79C2D13}" type="slidenum">
              <a:rPr kumimoji="1" lang="zh-CN" altLang="en-US" smtClean="0"/>
              <a:t>5</a:t>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DA3C2-876E-69C3-4C2B-EB71E898ED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BDA2BA-2C9F-AF2A-B351-F032825224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597515-7E99-6B5C-3454-FAD711E5248E}"/>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E78869F5-0284-3F2D-4BBE-C58EF6C97705}"/>
              </a:ext>
            </a:extLst>
          </p:cNvPr>
          <p:cNvSpPr>
            <a:spLocks noGrp="1"/>
          </p:cNvSpPr>
          <p:nvPr>
            <p:ph type="sldNum" sz="quarter" idx="5"/>
          </p:nvPr>
        </p:nvSpPr>
        <p:spPr/>
        <p:txBody>
          <a:bodyPr/>
          <a:lstStyle/>
          <a:p>
            <a:fld id="{9A366155-A792-DC4F-BD62-B9BAC79C2D13}" type="slidenum">
              <a:rPr kumimoji="1" lang="zh-CN" altLang="en-US" smtClean="0"/>
              <a:t>6</a:t>
            </a:fld>
            <a:endParaRPr kumimoji="1" lang="zh-CN" altLang="en-US"/>
          </a:p>
        </p:txBody>
      </p:sp>
    </p:spTree>
    <p:extLst>
      <p:ext uri="{BB962C8B-B14F-4D97-AF65-F5344CB8AC3E}">
        <p14:creationId xmlns:p14="http://schemas.microsoft.com/office/powerpoint/2010/main" val="2469193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9A366155-A792-DC4F-BD62-B9BAC79C2D13}" type="slidenum">
              <a:rPr kumimoji="1" lang="zh-CN" altLang="en-US" smtClean="0"/>
              <a:t>7</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10" name="内容占位符 9"/>
          <p:cNvSpPr>
            <a:spLocks noGrp="1"/>
          </p:cNvSpPr>
          <p:nvPr>
            <p:ph sz="quarter" idx="13"/>
          </p:nvPr>
        </p:nvSpPr>
        <p:spPr>
          <a:xfrm>
            <a:off x="304800" y="187169"/>
            <a:ext cx="8194675" cy="666750"/>
          </a:xfrm>
        </p:spPr>
        <p:txBody>
          <a:bodyPr>
            <a:normAutofit/>
          </a:bodyPr>
          <a:lstStyle>
            <a:lvl1pPr marL="0" indent="0">
              <a:lnSpc>
                <a:spcPct val="100000"/>
              </a:lnSpc>
              <a:spcBef>
                <a:spcPts val="0"/>
              </a:spcBef>
              <a:buNone/>
              <a:defRPr sz="3600" b="1">
                <a:solidFill>
                  <a:srgbClr val="C00000"/>
                </a:solidFill>
              </a:defRPr>
            </a:lvl1pPr>
            <a:lvl2pPr marL="457200" indent="0">
              <a:buNone/>
              <a:defRPr/>
            </a:lvl2pPr>
          </a:lstStyle>
          <a:p>
            <a:pPr lvl="0"/>
            <a:r>
              <a:rPr lang="zh-CN" altLang="en-US"/>
              <a:t>单击此处编辑母版文本样式</a:t>
            </a:r>
          </a:p>
        </p:txBody>
      </p:sp>
      <p:sp>
        <p:nvSpPr>
          <p:cNvPr id="2" name="日期占位符 1"/>
          <p:cNvSpPr>
            <a:spLocks noGrp="1"/>
          </p:cNvSpPr>
          <p:nvPr>
            <p:ph type="dt" sz="half" idx="10"/>
          </p:nvPr>
        </p:nvSpPr>
        <p:spPr/>
        <p:txBody>
          <a:bodyPr/>
          <a:lstStyle>
            <a:lvl1pPr>
              <a:defRPr>
                <a:solidFill>
                  <a:schemeClr val="dk1">
                    <a:lumMod val="100000"/>
                    <a:tint val="75000"/>
                  </a:schemeClr>
                </a:solidFill>
              </a:defRPr>
            </a:lvl1pPr>
          </a:lstStyle>
          <a:p>
            <a:fld id="{EF47082F-8D4E-4B7A-A85D-271FEA8C1D05}" type="datetimeFigureOut">
              <a:rPr lang="zh-CN" altLang="en-US" smtClean="0"/>
              <a:t>2025/11/27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lvl1pPr>
              <a:defRPr>
                <a:solidFill>
                  <a:schemeClr val="dk1">
                    <a:lumMod val="100000"/>
                    <a:tint val="75000"/>
                  </a:schemeClr>
                </a:solidFill>
              </a:defRPr>
            </a:lvl1pPr>
          </a:lstStyle>
          <a:p>
            <a:fld id="{9D06654C-42CE-443D-A4F0-947D36DD946D}" type="slidenum">
              <a:rPr lang="zh-CN" altLang="en-US" smtClean="0"/>
              <a:t>‹#›</a:t>
            </a:fld>
            <a:endParaRPr lang="zh-CN" altLang="en-US"/>
          </a:p>
        </p:txBody>
      </p:sp>
      <p:cxnSp>
        <p:nvCxnSpPr>
          <p:cNvPr id="6" name="直接连接符 5"/>
          <p:cNvCxnSpPr/>
          <p:nvPr userDrawn="1"/>
        </p:nvCxnSpPr>
        <p:spPr>
          <a:xfrm>
            <a:off x="391886" y="854968"/>
            <a:ext cx="11426042" cy="0"/>
          </a:xfrm>
          <a:prstGeom prst="line">
            <a:avLst/>
          </a:prstGeom>
          <a:ln w="41275" cap="rnd">
            <a:solidFill>
              <a:schemeClr val="tx1">
                <a:lumMod val="75000"/>
                <a:lumOff val="25000"/>
              </a:schemeClr>
            </a:solidFill>
            <a:round/>
          </a:ln>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4"/>
          </p:nvPr>
        </p:nvSpPr>
        <p:spPr>
          <a:xfrm>
            <a:off x="304800" y="949936"/>
            <a:ext cx="11513128" cy="516187"/>
          </a:xfrm>
        </p:spPr>
        <p:txBody>
          <a:bodyPr wrap="square" tIns="0" bIns="46800">
            <a:spAutoFit/>
          </a:bodyPr>
          <a:lstStyle>
            <a:lvl1pPr marL="431800" indent="-431800">
              <a:lnSpc>
                <a:spcPct val="120000"/>
              </a:lnSpc>
              <a:spcBef>
                <a:spcPts val="0"/>
              </a:spcBef>
              <a:buClr>
                <a:srgbClr val="C00000"/>
              </a:buClr>
              <a:buSzPct val="100000"/>
              <a:buFont typeface="Wingdings" panose="05000000000000000000" pitchFamily="2" charset="2"/>
              <a:buChar char="p"/>
              <a:defRPr lang="zh-CN" altLang="en-US" sz="2800" b="1" kern="0" smtClean="0">
                <a:solidFill>
                  <a:schemeClr val="tx1"/>
                </a:solidFill>
                <a:latin typeface="+mn-lt"/>
                <a:ea typeface="微软雅黑" panose="020B0503020204020204" pitchFamily="34" charset="-122"/>
                <a:cs typeface="+mn-cs"/>
              </a:defRPr>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solidFill>
                  <a:schemeClr val="dk1">
                    <a:lumMod val="100000"/>
                    <a:tint val="75000"/>
                  </a:schemeClr>
                </a:solidFill>
              </a:defRPr>
            </a:lvl1pPr>
          </a:lstStyle>
          <a:p>
            <a:fld id="{EF47082F-8D4E-4B7A-A85D-271FEA8C1D05}" type="datetimeFigureOut">
              <a:rPr lang="zh-CN" altLang="en-US" smtClean="0"/>
              <a:t>2025/11/27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lvl1pPr>
              <a:defRPr>
                <a:solidFill>
                  <a:schemeClr val="dk1">
                    <a:lumMod val="100000"/>
                    <a:tint val="75000"/>
                  </a:schemeClr>
                </a:solidFill>
              </a:defRPr>
            </a:lvl1pPr>
          </a:lstStyle>
          <a:p>
            <a:fld id="{9D06654C-42CE-443D-A4F0-947D36DD946D}"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dk1">
                    <a:lumMod val="100000"/>
                    <a:tint val="75000"/>
                  </a:schemeClr>
                </a:solidFill>
              </a:defRPr>
            </a:lvl1pPr>
          </a:lstStyle>
          <a:p>
            <a:fld id="{EF47082F-8D4E-4B7A-A85D-271FEA8C1D05}" type="datetimeFigureOut">
              <a:rPr lang="zh-CN" altLang="en-US" smtClean="0"/>
              <a:t>2025/11/27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dk1">
                    <a:lumMod val="100000"/>
                    <a:tint val="75000"/>
                  </a:schemeClr>
                </a:solidFill>
              </a:defRPr>
            </a:lvl1pPr>
          </a:lstStyle>
          <a:p>
            <a:fld id="{9D06654C-42CE-443D-A4F0-947D36DD946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latinLnBrk="0" hangingPunct="1">
        <a:lnSpc>
          <a:spcPct val="90000"/>
        </a:lnSpc>
        <a:spcBef>
          <a:spcPct val="0"/>
        </a:spcBef>
        <a:buNone/>
        <a:defRPr sz="4400" kern="1200">
          <a:solidFill>
            <a:schemeClr val="dk1">
              <a:lumMod val="10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lumMod val="10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lumMod val="10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lumMod val="10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8.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7.png"/><Relationship Id="rId5" Type="http://schemas.openxmlformats.org/officeDocument/2006/relationships/tags" Target="../tags/tag5.xml"/><Relationship Id="rId10" Type="http://schemas.openxmlformats.org/officeDocument/2006/relationships/image" Target="../media/image6.png"/><Relationship Id="rId4" Type="http://schemas.openxmlformats.org/officeDocument/2006/relationships/tags" Target="../tags/tag4.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18" Type="http://schemas.openxmlformats.org/officeDocument/2006/relationships/slideLayout" Target="../slideLayouts/slideLayout1.xml"/><Relationship Id="rId3" Type="http://schemas.openxmlformats.org/officeDocument/2006/relationships/tags" Target="../tags/tag10.xml"/><Relationship Id="rId21" Type="http://schemas.openxmlformats.org/officeDocument/2006/relationships/image" Target="../media/image9.png"/><Relationship Id="rId7" Type="http://schemas.openxmlformats.org/officeDocument/2006/relationships/tags" Target="../tags/tag14.xml"/><Relationship Id="rId12" Type="http://schemas.openxmlformats.org/officeDocument/2006/relationships/tags" Target="../tags/tag19.xml"/><Relationship Id="rId17" Type="http://schemas.openxmlformats.org/officeDocument/2006/relationships/tags" Target="../tags/tag24.xml"/><Relationship Id="rId25" Type="http://schemas.openxmlformats.org/officeDocument/2006/relationships/image" Target="../media/image13.png"/><Relationship Id="rId2" Type="http://schemas.openxmlformats.org/officeDocument/2006/relationships/tags" Target="../tags/tag9.xml"/><Relationship Id="rId16" Type="http://schemas.openxmlformats.org/officeDocument/2006/relationships/tags" Target="../tags/tag23.xml"/><Relationship Id="rId20" Type="http://schemas.openxmlformats.org/officeDocument/2006/relationships/image" Target="../media/image6.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24" Type="http://schemas.openxmlformats.org/officeDocument/2006/relationships/image" Target="../media/image12.png"/><Relationship Id="rId5" Type="http://schemas.openxmlformats.org/officeDocument/2006/relationships/tags" Target="../tags/tag12.xml"/><Relationship Id="rId15" Type="http://schemas.openxmlformats.org/officeDocument/2006/relationships/tags" Target="../tags/tag22.xml"/><Relationship Id="rId23" Type="http://schemas.openxmlformats.org/officeDocument/2006/relationships/image" Target="../media/image11.png"/><Relationship Id="rId10" Type="http://schemas.openxmlformats.org/officeDocument/2006/relationships/tags" Target="../tags/tag17.xml"/><Relationship Id="rId19" Type="http://schemas.openxmlformats.org/officeDocument/2006/relationships/notesSlide" Target="../notesSlides/notesSlide5.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tags" Target="../tags/tag21.xml"/><Relationship Id="rId22"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p:nvPr/>
        </p:nvSpPr>
        <p:spPr>
          <a:xfrm>
            <a:off x="876471" y="1331205"/>
            <a:ext cx="10508255" cy="848246"/>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10000"/>
              </a:lnSpc>
            </a:pPr>
            <a:r>
              <a:rPr lang="zh-CN" altLang="en-US" sz="4800" b="1" dirty="0">
                <a:solidFill>
                  <a:srgbClr val="C00000"/>
                </a:solidFill>
                <a:latin typeface="+mn-ea"/>
                <a:ea typeface="+mn-ea"/>
                <a:cs typeface="Times New Roman" panose="02020603050405020304" charset="0"/>
              </a:rPr>
              <a:t>基于大模型多智能体</a:t>
            </a:r>
            <a:r>
              <a:rPr lang="zh-CN" altLang="en-US" sz="4800" b="1" noProof="0" dirty="0">
                <a:ln w="0"/>
                <a:solidFill>
                  <a:srgbClr val="C00000"/>
                </a:solidFill>
                <a:effectLst>
                  <a:outerShdw blurRad="38100" dist="1905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的调度系统</a:t>
            </a:r>
            <a:endParaRPr lang="zh-CN" altLang="en-US" sz="4800" b="1" dirty="0">
              <a:solidFill>
                <a:srgbClr val="C00000"/>
              </a:solidFill>
              <a:latin typeface="+mn-ea"/>
              <a:ea typeface="+mn-ea"/>
              <a:cs typeface="Times New Roman" panose="02020603050405020304" charset="0"/>
            </a:endParaRPr>
          </a:p>
        </p:txBody>
      </p:sp>
      <p:sp>
        <p:nvSpPr>
          <p:cNvPr id="9" name="文本框 8"/>
          <p:cNvSpPr txBox="1"/>
          <p:nvPr/>
        </p:nvSpPr>
        <p:spPr>
          <a:xfrm>
            <a:off x="2790656" y="3934827"/>
            <a:ext cx="6610688" cy="1608455"/>
          </a:xfrm>
          <a:prstGeom prst="rect">
            <a:avLst/>
          </a:prstGeom>
          <a:noFill/>
        </p:spPr>
        <p:txBody>
          <a:bodyPr wrap="square" rtlCol="0">
            <a:spAutoFit/>
          </a:bodyPr>
          <a:lstStyle/>
          <a:p>
            <a:pPr marR="0" algn="ctr" defTabSz="914400" rtl="0" eaLnBrk="0" fontAlgn="base" latinLnBrk="0" hangingPunct="0">
              <a:lnSpc>
                <a:spcPct val="130000"/>
              </a:lnSpc>
              <a:spcAft>
                <a:spcPts val="600"/>
              </a:spcAft>
              <a:buClr>
                <a:srgbClr val="C00000"/>
              </a:buClr>
              <a:buSzPct val="85000"/>
            </a:pPr>
            <a:r>
              <a:rPr lang="zh-CN" altLang="en-US" sz="3600" b="1" kern="0" dirty="0">
                <a:latin typeface="+mn-ea"/>
                <a:cs typeface="Times New Roman" panose="02020603050405020304" charset="0"/>
              </a:rPr>
              <a:t>浙江工业大学</a:t>
            </a:r>
            <a:endParaRPr lang="en-US" altLang="zh-CN" sz="3600" b="1" kern="0" dirty="0">
              <a:latin typeface="+mn-ea"/>
              <a:cs typeface="Times New Roman" panose="02020603050405020304" charset="0"/>
            </a:endParaRPr>
          </a:p>
          <a:p>
            <a:pPr marR="0" algn="ctr" defTabSz="914400" rtl="0" eaLnBrk="0" fontAlgn="base" latinLnBrk="0" hangingPunct="0">
              <a:lnSpc>
                <a:spcPct val="130000"/>
              </a:lnSpc>
              <a:spcAft>
                <a:spcPts val="600"/>
              </a:spcAft>
              <a:buClr>
                <a:srgbClr val="C00000"/>
              </a:buClr>
              <a:buSzPct val="85000"/>
            </a:pPr>
            <a:r>
              <a:rPr lang="zh-CN" altLang="en-US" sz="3600" b="1" kern="0" dirty="0">
                <a:latin typeface="+mn-ea"/>
                <a:cs typeface="Times New Roman" panose="02020603050405020304" charset="0"/>
              </a:rPr>
              <a:t>网络空间安全研究院</a:t>
            </a:r>
          </a:p>
        </p:txBody>
      </p:sp>
      <p:cxnSp>
        <p:nvCxnSpPr>
          <p:cNvPr id="22" name="直接连接符 21"/>
          <p:cNvCxnSpPr/>
          <p:nvPr/>
        </p:nvCxnSpPr>
        <p:spPr>
          <a:xfrm>
            <a:off x="741600" y="3388880"/>
            <a:ext cx="10708278" cy="0"/>
          </a:xfrm>
          <a:prstGeom prst="line">
            <a:avLst/>
          </a:prstGeom>
          <a:ln w="53975"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185913" y="5340626"/>
            <a:ext cx="184731" cy="492443"/>
          </a:xfrm>
          <a:prstGeom prst="rect">
            <a:avLst/>
          </a:prstGeom>
          <a:noFill/>
        </p:spPr>
        <p:txBody>
          <a:bodyPr wrap="none" rtlCol="0">
            <a:spAutoFit/>
          </a:bodyPr>
          <a:lstStyle/>
          <a:p>
            <a:pPr marR="0" algn="l" defTabSz="914400" rtl="0" eaLnBrk="0" fontAlgn="base" latinLnBrk="0" hangingPunct="0">
              <a:lnSpc>
                <a:spcPct val="100000"/>
              </a:lnSpc>
              <a:spcBef>
                <a:spcPts val="1200"/>
              </a:spcBef>
              <a:spcAft>
                <a:spcPts val="600"/>
              </a:spcAft>
              <a:buClr>
                <a:srgbClr val="C00000"/>
              </a:buClr>
              <a:buSzPct val="85000"/>
            </a:pPr>
            <a:endParaRPr kumimoji="1" lang="zh-CN" altLang="en-US" sz="2600" kern="0">
              <a:latin typeface="Arial" panose="020B0604020202020204" pitchFamily="34" charset="0"/>
              <a:ea typeface="微软雅黑" panose="020B0503020204020204" pitchFamily="34" charset="-122"/>
            </a:endParaRPr>
          </a:p>
        </p:txBody>
      </p:sp>
      <p:pic>
        <p:nvPicPr>
          <p:cNvPr id="5" name="图片 4" descr="download"/>
          <p:cNvPicPr>
            <a:picLocks noChangeAspect="1"/>
          </p:cNvPicPr>
          <p:nvPr/>
        </p:nvPicPr>
        <p:blipFill>
          <a:blip r:embed="rId3"/>
          <a:stretch>
            <a:fillRect/>
          </a:stretch>
        </p:blipFill>
        <p:spPr>
          <a:xfrm>
            <a:off x="8087360" y="96520"/>
            <a:ext cx="3981450" cy="1143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p:txBody>
          <a:bodyPr/>
          <a:lstStyle/>
          <a:p>
            <a:r>
              <a:rPr lang="en-US" altLang="en-US" kern="0" dirty="0" err="1">
                <a:latin typeface="+mn-ea"/>
                <a:cs typeface="Times New Roman" panose="02020603050405020304" charset="0"/>
              </a:rPr>
              <a:t>研究背景</a:t>
            </a:r>
            <a:endParaRPr lang="en-US" altLang="en-US" kern="0" dirty="0">
              <a:latin typeface="+mn-ea"/>
              <a:cs typeface="Times New Roman" panose="02020603050405020304" charset="0"/>
            </a:endParaRPr>
          </a:p>
        </p:txBody>
      </p:sp>
      <p:sp>
        <p:nvSpPr>
          <p:cNvPr id="13" name="文本占位符 4"/>
          <p:cNvSpPr txBox="1"/>
          <p:nvPr/>
        </p:nvSpPr>
        <p:spPr>
          <a:xfrm>
            <a:off x="609603" y="1013133"/>
            <a:ext cx="10972795" cy="1301673"/>
          </a:xfrm>
          <a:prstGeom prst="rect">
            <a:avLst/>
          </a:prstGeom>
        </p:spPr>
        <p:txBody>
          <a:bodyPr vert="horz" wrap="square" lIns="91440" tIns="0" rIns="91440" bIns="46800" rtlCol="0">
            <a:noAutofit/>
          </a:bodyPr>
          <a:lstStyle>
            <a:lvl1pPr marL="431800" indent="-431800" algn="l" defTabSz="914400" rtl="0" eaLnBrk="1" latinLnBrk="0" hangingPunct="1">
              <a:lnSpc>
                <a:spcPct val="120000"/>
              </a:lnSpc>
              <a:spcBef>
                <a:spcPts val="0"/>
              </a:spcBef>
              <a:buClr>
                <a:srgbClr val="C00000"/>
              </a:buClr>
              <a:buSzPct val="100000"/>
              <a:buFont typeface="Wingdings" panose="05000000000000000000" pitchFamily="2" charset="2"/>
              <a:buChar char="p"/>
              <a:defRPr lang="zh-CN" altLang="en-US" sz="2800" b="1" kern="0" smtClean="0">
                <a:solidFill>
                  <a:schemeClr val="tx1"/>
                </a:solidFill>
                <a:latin typeface="+mn-lt"/>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lumMod val="10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lumMod val="10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indent="-342265" algn="just"/>
            <a:r>
              <a:rPr lang="zh-CN" altLang="en-US" sz="2000" dirty="0"/>
              <a:t>在硬件资源异构化的场景下，调度策略根据需求对任务进行资源分配，实现高效率的资源利用和任务管理。但面对任务资源需求的变化，</a:t>
            </a:r>
            <a:r>
              <a:rPr lang="zh-CN" altLang="en-US" sz="2000" dirty="0">
                <a:solidFill>
                  <a:srgbClr val="FF0000"/>
                </a:solidFill>
              </a:rPr>
              <a:t>静态</a:t>
            </a:r>
            <a:r>
              <a:rPr lang="zh-CN" altLang="en-US" sz="2000" dirty="0"/>
              <a:t>调度策略无法一直满足场景需求，因此需要对调度策略进行动态的切换。</a:t>
            </a:r>
            <a:endParaRPr lang="zh-CN" altLang="en-US" sz="2000" dirty="0">
              <a:effectLst/>
              <a:latin typeface="+mn-ea"/>
              <a:ea typeface="+mn-ea"/>
            </a:endParaRPr>
          </a:p>
        </p:txBody>
      </p:sp>
      <p:sp>
        <p:nvSpPr>
          <p:cNvPr id="32" name="文本占位符 4"/>
          <p:cNvSpPr txBox="1"/>
          <p:nvPr/>
        </p:nvSpPr>
        <p:spPr>
          <a:xfrm>
            <a:off x="818671" y="5047124"/>
            <a:ext cx="10972795" cy="914400"/>
          </a:xfrm>
          <a:prstGeom prst="rect">
            <a:avLst/>
          </a:prstGeom>
        </p:spPr>
        <p:txBody>
          <a:bodyPr vert="horz" wrap="square" lIns="91440" tIns="0" rIns="91440" bIns="46800" rtlCol="0">
            <a:noAutofit/>
          </a:bodyPr>
          <a:lstStyle>
            <a:lvl1pPr marL="431800" indent="-431800" algn="l" defTabSz="914400" rtl="0" eaLnBrk="1" latinLnBrk="0" hangingPunct="1">
              <a:lnSpc>
                <a:spcPct val="120000"/>
              </a:lnSpc>
              <a:spcBef>
                <a:spcPts val="0"/>
              </a:spcBef>
              <a:buClr>
                <a:srgbClr val="C00000"/>
              </a:buClr>
              <a:buSzPct val="100000"/>
              <a:buFont typeface="Wingdings" panose="05000000000000000000" pitchFamily="2" charset="2"/>
              <a:buChar char="p"/>
              <a:defRPr lang="zh-CN" altLang="en-US" sz="2800" b="1" kern="0" smtClean="0">
                <a:solidFill>
                  <a:schemeClr val="tx1"/>
                </a:solidFill>
                <a:latin typeface="+mn-lt"/>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lumMod val="10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lumMod val="10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indent="-342265" algn="just"/>
            <a:r>
              <a:rPr lang="zh-CN" altLang="en-US" sz="2000" dirty="0"/>
              <a:t>策略切换本质是算法选择的过程，现有的算法选择方式主要是对问题和算法进行特征提取，计算双方之间的匹配度，通过模型学习从特征到算法的映射。但这种方式将算法看作黑箱，通过给人工添加特征来训练模型，无法实现跨场景迁移，也不具备对算法的可解释性。</a:t>
            </a:r>
            <a:endParaRPr lang="zh-CN" altLang="en-US" sz="2000" dirty="0">
              <a:latin typeface="+mn-ea"/>
              <a:ea typeface="+mn-ea"/>
              <a:cs typeface="Times New Roman" panose="02020603050405020304" charset="0"/>
            </a:endParaRPr>
          </a:p>
        </p:txBody>
      </p:sp>
      <p:pic>
        <p:nvPicPr>
          <p:cNvPr id="5" name="图片 4">
            <a:extLst>
              <a:ext uri="{FF2B5EF4-FFF2-40B4-BE49-F238E27FC236}">
                <a16:creationId xmlns:a16="http://schemas.microsoft.com/office/drawing/2014/main" id="{2252454A-19D9-73F3-84C0-71DA5C0CB2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3323" y="2289906"/>
            <a:ext cx="3817161" cy="2253289"/>
          </a:xfrm>
          <a:prstGeom prst="rect">
            <a:avLst/>
          </a:prstGeom>
        </p:spPr>
      </p:pic>
      <p:pic>
        <p:nvPicPr>
          <p:cNvPr id="7" name="图片 6">
            <a:extLst>
              <a:ext uri="{FF2B5EF4-FFF2-40B4-BE49-F238E27FC236}">
                <a16:creationId xmlns:a16="http://schemas.microsoft.com/office/drawing/2014/main" id="{D6AE0891-348F-B3C3-DABF-CA88F3929E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18952" y="2292379"/>
            <a:ext cx="4419632" cy="2209816"/>
          </a:xfrm>
          <a:prstGeom prst="rect">
            <a:avLst/>
          </a:prstGeom>
        </p:spPr>
      </p:pic>
      <p:sp>
        <p:nvSpPr>
          <p:cNvPr id="11" name="文本框 10">
            <a:extLst>
              <a:ext uri="{FF2B5EF4-FFF2-40B4-BE49-F238E27FC236}">
                <a16:creationId xmlns:a16="http://schemas.microsoft.com/office/drawing/2014/main" id="{0108E328-E176-6A6E-B8CB-87B6B2103532}"/>
              </a:ext>
            </a:extLst>
          </p:cNvPr>
          <p:cNvSpPr txBox="1"/>
          <p:nvPr/>
        </p:nvSpPr>
        <p:spPr>
          <a:xfrm>
            <a:off x="1898696" y="4611009"/>
            <a:ext cx="3007450" cy="369332"/>
          </a:xfrm>
          <a:prstGeom prst="rect">
            <a:avLst/>
          </a:prstGeom>
          <a:noFill/>
        </p:spPr>
        <p:txBody>
          <a:bodyPr wrap="square">
            <a:spAutoFit/>
          </a:bodyPr>
          <a:lstStyle/>
          <a:p>
            <a:pPr algn="ctr"/>
            <a:r>
              <a:rPr lang="zh-CN" altLang="en-US" b="1" dirty="0">
                <a:latin typeface="+mn-ea"/>
                <a:cs typeface="Times New Roman" panose="02020603050405020304" charset="0"/>
              </a:rPr>
              <a:t>不同规模不同策略表现</a:t>
            </a:r>
          </a:p>
        </p:txBody>
      </p:sp>
      <p:sp>
        <p:nvSpPr>
          <p:cNvPr id="12" name="文本框 11">
            <a:extLst>
              <a:ext uri="{FF2B5EF4-FFF2-40B4-BE49-F238E27FC236}">
                <a16:creationId xmlns:a16="http://schemas.microsoft.com/office/drawing/2014/main" id="{B55442C8-89E3-88EB-2AAD-69B793CF34DD}"/>
              </a:ext>
            </a:extLst>
          </p:cNvPr>
          <p:cNvSpPr txBox="1"/>
          <p:nvPr/>
        </p:nvSpPr>
        <p:spPr>
          <a:xfrm>
            <a:off x="7068001" y="4602158"/>
            <a:ext cx="3007450" cy="369332"/>
          </a:xfrm>
          <a:prstGeom prst="rect">
            <a:avLst/>
          </a:prstGeom>
          <a:noFill/>
        </p:spPr>
        <p:txBody>
          <a:bodyPr wrap="square">
            <a:spAutoFit/>
          </a:bodyPr>
          <a:lstStyle/>
          <a:p>
            <a:pPr algn="ctr"/>
            <a:r>
              <a:rPr lang="zh-CN" altLang="en-US" b="1" dirty="0">
                <a:latin typeface="+mn-ea"/>
                <a:cs typeface="Times New Roman" panose="02020603050405020304" charset="0"/>
              </a:rPr>
              <a:t>不同优先级下不同策略表现</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1"/>
          <p:cNvSpPr>
            <a:spLocks noGrp="1"/>
          </p:cNvSpPr>
          <p:nvPr>
            <p:ph sz="quarter" idx="13"/>
          </p:nvPr>
        </p:nvSpPr>
        <p:spPr>
          <a:xfrm>
            <a:off x="304800" y="187325"/>
            <a:ext cx="10294620" cy="666750"/>
          </a:xfrm>
        </p:spPr>
        <p:txBody>
          <a:bodyPr anchor="b" anchorCtr="0">
            <a:noAutofit/>
          </a:bodyPr>
          <a:lstStyle/>
          <a:p>
            <a:pPr>
              <a:lnSpc>
                <a:spcPct val="110000"/>
              </a:lnSpc>
            </a:pPr>
            <a:r>
              <a:rPr lang="zh-CN" altLang="en-US" dirty="0">
                <a:latin typeface="+mn-ea"/>
                <a:cs typeface="Times New Roman" panose="02020603050405020304" charset="0"/>
              </a:rPr>
              <a:t>基于大模型多智能体</a:t>
            </a:r>
            <a:r>
              <a:rPr lang="zh-CN" altLang="en-US" dirty="0">
                <a:ln w="0"/>
                <a:effectLst>
                  <a:outerShdw blurRad="38100" dist="19050" dir="2700000" algn="tl" rotWithShape="0">
                    <a:prstClr val="black">
                      <a:alpha val="40000"/>
                    </a:prstClr>
                  </a:outerShdw>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的调度系统</a:t>
            </a:r>
            <a:endParaRPr lang="zh-CN" altLang="en-US" dirty="0">
              <a:latin typeface="+mn-ea"/>
              <a:cs typeface="Times New Roman" panose="02020603050405020304" charset="0"/>
            </a:endParaRPr>
          </a:p>
        </p:txBody>
      </p:sp>
      <p:sp>
        <p:nvSpPr>
          <p:cNvPr id="13" name="内容占位符 2"/>
          <p:cNvSpPr>
            <a:spLocks noGrp="1"/>
          </p:cNvSpPr>
          <p:nvPr>
            <p:ph sz="quarter" idx="14"/>
          </p:nvPr>
        </p:nvSpPr>
        <p:spPr>
          <a:xfrm>
            <a:off x="304800" y="949936"/>
            <a:ext cx="11651848" cy="562610"/>
          </a:xfrm>
        </p:spPr>
        <p:txBody>
          <a:bodyPr/>
          <a:lstStyle/>
          <a:p>
            <a:r>
              <a:rPr lang="zh-CN" altLang="en-US" kern="1200" dirty="0">
                <a:latin typeface="+mn-ea"/>
                <a:ea typeface="+mn-ea"/>
                <a:cs typeface="Times New Roman" panose="02020603050405020304" charset="0"/>
              </a:rPr>
              <a:t>研究背景</a:t>
            </a:r>
          </a:p>
        </p:txBody>
      </p:sp>
      <p:sp>
        <p:nvSpPr>
          <p:cNvPr id="29" name="矩形 28"/>
          <p:cNvSpPr/>
          <p:nvPr/>
        </p:nvSpPr>
        <p:spPr>
          <a:xfrm>
            <a:off x="789161" y="5202707"/>
            <a:ext cx="11021060" cy="1169038"/>
          </a:xfrm>
          <a:prstGeom prst="rect">
            <a:avLst/>
          </a:prstGeom>
        </p:spPr>
        <p:txBody>
          <a:bodyPr wrap="square">
            <a:spAutoFit/>
          </a:bodyPr>
          <a:lstStyle/>
          <a:p>
            <a:pPr marL="342900" indent="-342900" algn="just">
              <a:lnSpc>
                <a:spcPct val="120000"/>
              </a:lnSpc>
              <a:buFont typeface="Wingdings" panose="05000000000000000000" charset="0"/>
              <a:buChar char="p"/>
            </a:pPr>
            <a:r>
              <a:rPr lang="zh-CN" altLang="en-US" sz="2000" b="1" dirty="0">
                <a:solidFill>
                  <a:srgbClr val="C00000"/>
                </a:solidFill>
                <a:latin typeface="+mn-ea"/>
                <a:cs typeface="Times New Roman" panose="02020603050405020304" charset="0"/>
                <a:sym typeface="+mn-ea"/>
              </a:rPr>
              <a:t>关键问题：</a:t>
            </a:r>
            <a:r>
              <a:rPr lang="zh-CN" altLang="en-US" sz="2000" b="1" kern="0" dirty="0">
                <a:solidFill>
                  <a:srgbClr val="FF0000"/>
                </a:solidFill>
                <a:ea typeface="微软雅黑" panose="020B0503020204020204" pitchFamily="34" charset="-122"/>
              </a:rPr>
              <a:t>大模型</a:t>
            </a:r>
            <a:r>
              <a:rPr lang="zh-CN" altLang="en-US" sz="2000" b="1" kern="0" dirty="0">
                <a:ea typeface="微软雅黑" panose="020B0503020204020204" pitchFamily="34" charset="-122"/>
              </a:rPr>
              <a:t>的推理范式与调度系统的运行机制存在冲突。</a:t>
            </a:r>
            <a:endParaRPr lang="en-US" altLang="zh-CN" sz="2000" b="1" kern="0" dirty="0">
              <a:ea typeface="微软雅黑" panose="020B0503020204020204" pitchFamily="34" charset="-122"/>
            </a:endParaRPr>
          </a:p>
          <a:p>
            <a:pPr algn="just">
              <a:lnSpc>
                <a:spcPct val="120000"/>
              </a:lnSpc>
            </a:pPr>
            <a:r>
              <a:rPr lang="zh-CN" altLang="en-US" sz="2000" dirty="0"/>
              <a:t>调度系统依赖于对集群底层状态的实时监测，而大模型无法直接从底层海量指标直接推理到策略选择。</a:t>
            </a:r>
            <a:endParaRPr lang="zh-CN" altLang="en-US" sz="2000" b="1" kern="0" dirty="0">
              <a:ea typeface="微软雅黑" panose="020B0503020204020204" pitchFamily="34" charset="-122"/>
              <a:sym typeface="+mn-ea"/>
            </a:endParaRPr>
          </a:p>
        </p:txBody>
      </p:sp>
      <p:sp>
        <p:nvSpPr>
          <p:cNvPr id="12" name="矩形 11"/>
          <p:cNvSpPr/>
          <p:nvPr/>
        </p:nvSpPr>
        <p:spPr>
          <a:xfrm>
            <a:off x="645160" y="1466850"/>
            <a:ext cx="11021060" cy="1169038"/>
          </a:xfrm>
          <a:prstGeom prst="rect">
            <a:avLst/>
          </a:prstGeom>
        </p:spPr>
        <p:txBody>
          <a:bodyPr wrap="square">
            <a:spAutoFit/>
          </a:bodyPr>
          <a:lstStyle/>
          <a:p>
            <a:pPr marL="285750" indent="-285750" algn="just">
              <a:lnSpc>
                <a:spcPct val="120000"/>
              </a:lnSpc>
              <a:buFont typeface="Wingdings" panose="05000000000000000000" charset="0"/>
              <a:buChar char="p"/>
            </a:pPr>
            <a:r>
              <a:rPr lang="zh-CN" altLang="en-US" sz="2000" b="1" kern="0" dirty="0">
                <a:ea typeface="微软雅黑" panose="020B0503020204020204" pitchFamily="34" charset="-122"/>
                <a:sym typeface="+mn-ea"/>
              </a:rPr>
              <a:t>大语言模型（LLM）驱动的多智能体系统在多个领域成功应用。大模型可以</a:t>
            </a:r>
            <a:r>
              <a:rPr lang="zh-CN" altLang="en-US" sz="2000" b="1" kern="0" dirty="0">
                <a:ea typeface="微软雅黑" panose="020B0503020204020204" pitchFamily="34" charset="-122"/>
              </a:rPr>
              <a:t>将代码、指标、自然语言映射到同一高维语义空间，拥有跨语言的理解能力，从而可以实现集群需求和策略优势的端到端匹配。</a:t>
            </a:r>
          </a:p>
        </p:txBody>
      </p:sp>
      <p:grpSp>
        <p:nvGrpSpPr>
          <p:cNvPr id="6" name="组合 5">
            <a:extLst>
              <a:ext uri="{FF2B5EF4-FFF2-40B4-BE49-F238E27FC236}">
                <a16:creationId xmlns:a16="http://schemas.microsoft.com/office/drawing/2014/main" id="{68D22929-79D0-BAB7-8D1D-A9CA5E73190C}"/>
              </a:ext>
            </a:extLst>
          </p:cNvPr>
          <p:cNvGrpSpPr/>
          <p:nvPr/>
        </p:nvGrpSpPr>
        <p:grpSpPr>
          <a:xfrm>
            <a:off x="7044257" y="2890897"/>
            <a:ext cx="3167380" cy="2109909"/>
            <a:chOff x="6921427" y="3096656"/>
            <a:chExt cx="3167380" cy="2109909"/>
          </a:xfrm>
        </p:grpSpPr>
        <p:pic>
          <p:nvPicPr>
            <p:cNvPr id="2" name="图片 1">
              <a:extLst>
                <a:ext uri="{FF2B5EF4-FFF2-40B4-BE49-F238E27FC236}">
                  <a16:creationId xmlns:a16="http://schemas.microsoft.com/office/drawing/2014/main" id="{311C49F5-C1DB-93CB-C2B6-8B3FCD0C9501}"/>
                </a:ext>
              </a:extLst>
            </p:cNvPr>
            <p:cNvPicPr>
              <a:picLocks noChangeAspect="1"/>
            </p:cNvPicPr>
            <p:nvPr/>
          </p:nvPicPr>
          <p:blipFill>
            <a:blip r:embed="rId3"/>
            <a:stretch>
              <a:fillRect/>
            </a:stretch>
          </p:blipFill>
          <p:spPr>
            <a:xfrm>
              <a:off x="6921427" y="3096656"/>
              <a:ext cx="3167380" cy="1548000"/>
            </a:xfrm>
            <a:prstGeom prst="rect">
              <a:avLst/>
            </a:prstGeom>
          </p:spPr>
        </p:pic>
        <p:sp>
          <p:nvSpPr>
            <p:cNvPr id="3" name="文本框 2">
              <a:extLst>
                <a:ext uri="{FF2B5EF4-FFF2-40B4-BE49-F238E27FC236}">
                  <a16:creationId xmlns:a16="http://schemas.microsoft.com/office/drawing/2014/main" id="{B35F4192-8312-F056-2DC9-8145DC4C51B0}"/>
                </a:ext>
              </a:extLst>
            </p:cNvPr>
            <p:cNvSpPr txBox="1"/>
            <p:nvPr/>
          </p:nvSpPr>
          <p:spPr>
            <a:xfrm>
              <a:off x="7708278" y="4837233"/>
              <a:ext cx="1593677" cy="369332"/>
            </a:xfrm>
            <a:prstGeom prst="rect">
              <a:avLst/>
            </a:prstGeom>
            <a:noFill/>
          </p:spPr>
          <p:txBody>
            <a:bodyPr wrap="square">
              <a:spAutoFit/>
            </a:bodyPr>
            <a:lstStyle/>
            <a:p>
              <a:pPr algn="ctr"/>
              <a:r>
                <a:rPr lang="zh-CN" altLang="en-US" b="1" dirty="0">
                  <a:solidFill>
                    <a:srgbClr val="0D0D0D"/>
                  </a:solidFill>
                  <a:latin typeface="+mn-ea"/>
                  <a:cs typeface="Times New Roman" panose="02020603050405020304" charset="0"/>
                </a:rPr>
                <a:t>专业知识扩展</a:t>
              </a:r>
            </a:p>
          </p:txBody>
        </p:sp>
      </p:grpSp>
      <p:grpSp>
        <p:nvGrpSpPr>
          <p:cNvPr id="7" name="组合 6">
            <a:extLst>
              <a:ext uri="{FF2B5EF4-FFF2-40B4-BE49-F238E27FC236}">
                <a16:creationId xmlns:a16="http://schemas.microsoft.com/office/drawing/2014/main" id="{7D175742-CAA1-15A7-46BE-36CC52080608}"/>
              </a:ext>
            </a:extLst>
          </p:cNvPr>
          <p:cNvGrpSpPr/>
          <p:nvPr/>
        </p:nvGrpSpPr>
        <p:grpSpPr>
          <a:xfrm>
            <a:off x="1476272" y="2901253"/>
            <a:ext cx="3167380" cy="2108877"/>
            <a:chOff x="1476273" y="3096656"/>
            <a:chExt cx="3167380" cy="2108877"/>
          </a:xfrm>
        </p:grpSpPr>
        <p:pic>
          <p:nvPicPr>
            <p:cNvPr id="4" name="图片 3">
              <a:extLst>
                <a:ext uri="{FF2B5EF4-FFF2-40B4-BE49-F238E27FC236}">
                  <a16:creationId xmlns:a16="http://schemas.microsoft.com/office/drawing/2014/main" id="{3936A155-0508-8700-1B83-97AAE6F5B85D}"/>
                </a:ext>
              </a:extLst>
            </p:cNvPr>
            <p:cNvPicPr/>
            <p:nvPr/>
          </p:nvPicPr>
          <p:blipFill>
            <a:blip r:embed="rId4"/>
            <a:stretch>
              <a:fillRect/>
            </a:stretch>
          </p:blipFill>
          <p:spPr>
            <a:xfrm>
              <a:off x="1476273" y="3096656"/>
              <a:ext cx="3167380" cy="1548000"/>
            </a:xfrm>
            <a:prstGeom prst="rect">
              <a:avLst/>
            </a:prstGeom>
          </p:spPr>
        </p:pic>
        <p:sp>
          <p:nvSpPr>
            <p:cNvPr id="5" name="文本框 4">
              <a:extLst>
                <a:ext uri="{FF2B5EF4-FFF2-40B4-BE49-F238E27FC236}">
                  <a16:creationId xmlns:a16="http://schemas.microsoft.com/office/drawing/2014/main" id="{2E43AA2C-ABF1-55DE-328F-011A8CBC3569}"/>
                </a:ext>
              </a:extLst>
            </p:cNvPr>
            <p:cNvSpPr txBox="1"/>
            <p:nvPr/>
          </p:nvSpPr>
          <p:spPr>
            <a:xfrm>
              <a:off x="1476273" y="4837233"/>
              <a:ext cx="3007450" cy="368300"/>
            </a:xfrm>
            <a:prstGeom prst="rect">
              <a:avLst/>
            </a:prstGeom>
            <a:noFill/>
          </p:spPr>
          <p:txBody>
            <a:bodyPr wrap="square">
              <a:spAutoFit/>
            </a:bodyPr>
            <a:lstStyle/>
            <a:p>
              <a:pPr algn="ctr"/>
              <a:r>
                <a:rPr lang="zh-CN" altLang="en-US" b="1" dirty="0">
                  <a:latin typeface="+mn-ea"/>
                  <a:cs typeface="Times New Roman" panose="02020603050405020304" charset="0"/>
                </a:rPr>
                <a:t>跨文本语义融合</a:t>
              </a: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4"/>
          </p:nvPr>
        </p:nvSpPr>
        <p:spPr>
          <a:xfrm>
            <a:off x="304800" y="949936"/>
            <a:ext cx="11651848" cy="520528"/>
          </a:xfrm>
        </p:spPr>
        <p:txBody>
          <a:bodyPr/>
          <a:lstStyle/>
          <a:p>
            <a:r>
              <a:rPr lang="zh-CN" altLang="en-US" kern="1200" dirty="0">
                <a:latin typeface="+mn-ea"/>
                <a:ea typeface="+mn-ea"/>
                <a:cs typeface="Times New Roman" panose="02020603050405020304" charset="0"/>
              </a:rPr>
              <a:t>挑战</a:t>
            </a:r>
          </a:p>
        </p:txBody>
      </p:sp>
      <p:sp>
        <p:nvSpPr>
          <p:cNvPr id="12" name="矩形 11"/>
          <p:cNvSpPr/>
          <p:nvPr/>
        </p:nvSpPr>
        <p:spPr>
          <a:xfrm>
            <a:off x="579120" y="1470464"/>
            <a:ext cx="11445240" cy="430374"/>
          </a:xfrm>
          <a:prstGeom prst="rect">
            <a:avLst/>
          </a:prstGeom>
        </p:spPr>
        <p:txBody>
          <a:bodyPr wrap="square">
            <a:spAutoFit/>
          </a:bodyPr>
          <a:lstStyle/>
          <a:p>
            <a:pPr marL="285750" indent="-285750">
              <a:lnSpc>
                <a:spcPct val="120000"/>
              </a:lnSpc>
              <a:buFont typeface="Wingdings" panose="05000000000000000000" pitchFamily="2" charset="2"/>
              <a:buChar char="p"/>
            </a:pPr>
            <a:r>
              <a:rPr lang="zh-CN" altLang="en-US" sz="2000" b="1" kern="0" dirty="0">
                <a:ea typeface="微软雅黑" panose="020B0503020204020204" pitchFamily="34" charset="-122"/>
              </a:rPr>
              <a:t>基于大模型的智能体输入与集群状态输入结构之间的冲突</a:t>
            </a:r>
            <a:endParaRPr lang="zh-CN" altLang="en-US" sz="2000" b="1" kern="0" dirty="0">
              <a:ea typeface="微软雅黑" panose="020B0503020204020204" pitchFamily="34" charset="-122"/>
              <a:sym typeface="+mn-ea"/>
            </a:endParaRPr>
          </a:p>
        </p:txBody>
      </p:sp>
      <p:sp>
        <p:nvSpPr>
          <p:cNvPr id="4" name="内容占位符 1"/>
          <p:cNvSpPr>
            <a:spLocks noGrp="1"/>
          </p:cNvSpPr>
          <p:nvPr>
            <p:ph sz="quarter" idx="13"/>
          </p:nvPr>
        </p:nvSpPr>
        <p:spPr>
          <a:xfrm>
            <a:off x="304800" y="187325"/>
            <a:ext cx="10527665" cy="666750"/>
          </a:xfrm>
        </p:spPr>
        <p:txBody>
          <a:bodyPr anchor="b" anchorCtr="0">
            <a:noAutofit/>
          </a:bodyPr>
          <a:lstStyle/>
          <a:p>
            <a:pPr>
              <a:lnSpc>
                <a:spcPct val="110000"/>
              </a:lnSpc>
            </a:pPr>
            <a:r>
              <a:rPr lang="zh-CN" altLang="en-US" dirty="0">
                <a:latin typeface="+mn-ea"/>
                <a:cs typeface="Times New Roman" panose="02020603050405020304" charset="0"/>
              </a:rPr>
              <a:t>基于大模型多智能体</a:t>
            </a:r>
            <a:r>
              <a:rPr lang="zh-CN" altLang="en-US" dirty="0">
                <a:ln w="0"/>
                <a:effectLst>
                  <a:outerShdw blurRad="38100" dist="19050" dir="2700000" algn="tl" rotWithShape="0">
                    <a:prstClr val="black">
                      <a:alpha val="40000"/>
                    </a:prstClr>
                  </a:outerShdw>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的调度系统</a:t>
            </a:r>
            <a:endParaRPr lang="zh-CN" altLang="en-US" dirty="0">
              <a:latin typeface="+mn-ea"/>
              <a:cs typeface="Times New Roman" panose="02020603050405020304" charset="0"/>
            </a:endParaRPr>
          </a:p>
        </p:txBody>
      </p:sp>
      <p:sp>
        <p:nvSpPr>
          <p:cNvPr id="75" name="矩形 74"/>
          <p:cNvSpPr/>
          <p:nvPr/>
        </p:nvSpPr>
        <p:spPr>
          <a:xfrm>
            <a:off x="826291" y="5345961"/>
            <a:ext cx="11377295" cy="1169038"/>
          </a:xfrm>
          <a:prstGeom prst="rect">
            <a:avLst/>
          </a:prstGeom>
        </p:spPr>
        <p:txBody>
          <a:bodyPr wrap="square" anchor="ctr" anchorCtr="0">
            <a:spAutoFit/>
          </a:bodyPr>
          <a:lstStyle/>
          <a:p>
            <a:pPr marL="285750" indent="-285750" algn="just">
              <a:lnSpc>
                <a:spcPct val="120000"/>
              </a:lnSpc>
              <a:buFont typeface="Wingdings" panose="05000000000000000000" pitchFamily="2" charset="2"/>
              <a:buChar char="p"/>
            </a:pPr>
            <a:r>
              <a:rPr lang="zh-CN" altLang="en-US" sz="2000" dirty="0"/>
              <a:t>将复杂系统指标转换为紧凑、高语义、结构化的“集群状态统计”。</a:t>
            </a:r>
            <a:endParaRPr lang="en-US" altLang="zh-CN" sz="2000" dirty="0"/>
          </a:p>
          <a:p>
            <a:pPr algn="just">
              <a:lnSpc>
                <a:spcPct val="120000"/>
              </a:lnSpc>
            </a:pPr>
            <a:r>
              <a:rPr lang="en-US" altLang="zh-CN" sz="2000" dirty="0"/>
              <a:t>    </a:t>
            </a:r>
            <a:r>
              <a:rPr lang="zh-CN" altLang="en-US" sz="2000" dirty="0"/>
              <a:t>动态拼接当前集群状态与资源诉求。</a:t>
            </a:r>
            <a:endParaRPr lang="en-US" altLang="zh-CN" sz="2000" dirty="0"/>
          </a:p>
          <a:p>
            <a:pPr marL="285750" indent="-285750" algn="just">
              <a:lnSpc>
                <a:spcPct val="120000"/>
              </a:lnSpc>
              <a:buFont typeface="Wingdings" panose="05000000000000000000" pitchFamily="2" charset="2"/>
              <a:buChar char="p"/>
            </a:pPr>
            <a:r>
              <a:rPr lang="zh-CN" altLang="en-US" sz="2000" dirty="0"/>
              <a:t>对集群状态进行定期采样，统计集群变化趋势，替</a:t>
            </a:r>
            <a:r>
              <a:rPr lang="en-US" altLang="zh-CN" sz="2000" dirty="0"/>
              <a:t>LLM</a:t>
            </a:r>
            <a:r>
              <a:rPr lang="zh-CN" altLang="en-US" sz="2000" dirty="0"/>
              <a:t>完成数据差分。</a:t>
            </a:r>
            <a:endParaRPr lang="en-US" altLang="zh-CN" sz="2000" dirty="0"/>
          </a:p>
        </p:txBody>
      </p:sp>
      <p:grpSp>
        <p:nvGrpSpPr>
          <p:cNvPr id="43" name="组合 42">
            <a:extLst>
              <a:ext uri="{FF2B5EF4-FFF2-40B4-BE49-F238E27FC236}">
                <a16:creationId xmlns:a16="http://schemas.microsoft.com/office/drawing/2014/main" id="{462381EA-A436-CE77-208A-5B6AD9BC4254}"/>
              </a:ext>
            </a:extLst>
          </p:cNvPr>
          <p:cNvGrpSpPr/>
          <p:nvPr/>
        </p:nvGrpSpPr>
        <p:grpSpPr>
          <a:xfrm>
            <a:off x="2068638" y="3147140"/>
            <a:ext cx="5416793" cy="1221179"/>
            <a:chOff x="2210439" y="2476279"/>
            <a:chExt cx="5416793" cy="1221179"/>
          </a:xfrm>
        </p:grpSpPr>
        <p:sp>
          <p:nvSpPr>
            <p:cNvPr id="14" name="文本框 365">
              <a:extLst>
                <a:ext uri="{FF2B5EF4-FFF2-40B4-BE49-F238E27FC236}">
                  <a16:creationId xmlns:a16="http://schemas.microsoft.com/office/drawing/2014/main" id="{EC846BC8-38A7-9180-EB7D-1E1A94C33486}"/>
                </a:ext>
              </a:extLst>
            </p:cNvPr>
            <p:cNvSpPr txBox="1"/>
            <p:nvPr>
              <p:custDataLst>
                <p:tags r:id="rId1"/>
              </p:custDataLst>
            </p:nvPr>
          </p:nvSpPr>
          <p:spPr>
            <a:xfrm>
              <a:off x="2210439" y="3377622"/>
              <a:ext cx="1065530" cy="319835"/>
            </a:xfrm>
            <a:prstGeom prst="rect">
              <a:avLst/>
            </a:prstGeom>
            <a:solidFill>
              <a:schemeClr val="accent1">
                <a:lumMod val="40000"/>
                <a:lumOff val="60000"/>
              </a:schemeClr>
            </a:solidFill>
          </p:spPr>
          <p:txBody>
            <a:bodyPr wrap="square" lIns="0" tIns="0" rIns="0" bIns="0" anchor="ctr" anchorCtr="0">
              <a:noAutofit/>
            </a:bodyPr>
            <a:lstStyle/>
            <a:p>
              <a:pPr algn="ctr" defTabSz="685800"/>
              <a:r>
                <a:rPr lang="zh-CN" altLang="en-US" sz="1200" kern="0" dirty="0">
                  <a:solidFill>
                    <a:prstClr val="black"/>
                  </a:solidFill>
                  <a:latin typeface="微软雅黑" panose="020B0503020204020204" pitchFamily="34" charset="-122"/>
                  <a:ea typeface="微软雅黑" panose="020B0503020204020204" pitchFamily="34" charset="-122"/>
                </a:rPr>
                <a:t>结构化数据</a:t>
              </a:r>
            </a:p>
          </p:txBody>
        </p:sp>
        <p:cxnSp>
          <p:nvCxnSpPr>
            <p:cNvPr id="15" name="直接箭头连接符 14">
              <a:extLst>
                <a:ext uri="{FF2B5EF4-FFF2-40B4-BE49-F238E27FC236}">
                  <a16:creationId xmlns:a16="http://schemas.microsoft.com/office/drawing/2014/main" id="{1CEB13D3-72FC-C130-924E-D7778BAB9725}"/>
                </a:ext>
              </a:extLst>
            </p:cNvPr>
            <p:cNvCxnSpPr>
              <a:cxnSpLocks/>
            </p:cNvCxnSpPr>
            <p:nvPr>
              <p:custDataLst>
                <p:tags r:id="rId2"/>
              </p:custDataLst>
            </p:nvPr>
          </p:nvCxnSpPr>
          <p:spPr>
            <a:xfrm>
              <a:off x="3419878" y="2916011"/>
              <a:ext cx="856106"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 Box 21">
              <a:extLst>
                <a:ext uri="{FF2B5EF4-FFF2-40B4-BE49-F238E27FC236}">
                  <a16:creationId xmlns:a16="http://schemas.microsoft.com/office/drawing/2014/main" id="{0D88C3B0-6A8B-D300-5E6C-486212FF47E7}"/>
                </a:ext>
              </a:extLst>
            </p:cNvPr>
            <p:cNvSpPr txBox="1"/>
            <p:nvPr>
              <p:custDataLst>
                <p:tags r:id="rId3"/>
              </p:custDataLst>
            </p:nvPr>
          </p:nvSpPr>
          <p:spPr>
            <a:xfrm>
              <a:off x="3322519" y="2618891"/>
              <a:ext cx="1049020" cy="276999"/>
            </a:xfrm>
            <a:prstGeom prst="rect">
              <a:avLst/>
            </a:prstGeom>
            <a:noFill/>
            <a:extLst>
              <a:ext uri="{909E8E84-426E-40DD-AFC4-6F175D3DCCD1}">
                <a14:hiddenFill xmlns:a14="http://schemas.microsoft.com/office/drawing/2010/main">
                  <a:solidFill>
                    <a:schemeClr val="accent6">
                      <a:lumMod val="20000"/>
                      <a:lumOff val="80000"/>
                    </a:schemeClr>
                  </a:solidFill>
                </a14:hiddenFill>
              </a:ext>
            </a:ex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抽象化</a:t>
              </a:r>
              <a:endParaRPr kumimoji="0" lang="en-US" altLang="zh-CN" sz="120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pic>
          <p:nvPicPr>
            <p:cNvPr id="25" name="图片 24" descr="机器人">
              <a:extLst>
                <a:ext uri="{FF2B5EF4-FFF2-40B4-BE49-F238E27FC236}">
                  <a16:creationId xmlns:a16="http://schemas.microsoft.com/office/drawing/2014/main" id="{92E9B2E8-5EF0-5B86-A723-13E6EE807E27}"/>
                </a:ext>
              </a:extLst>
            </p:cNvPr>
            <p:cNvPicPr>
              <a:picLocks noChangeAspect="1"/>
            </p:cNvPicPr>
            <p:nvPr/>
          </p:nvPicPr>
          <p:blipFill>
            <a:blip r:embed="rId10"/>
            <a:stretch>
              <a:fillRect/>
            </a:stretch>
          </p:blipFill>
          <p:spPr>
            <a:xfrm>
              <a:off x="6777032" y="2565613"/>
              <a:ext cx="540000" cy="540000"/>
            </a:xfrm>
            <a:prstGeom prst="rect">
              <a:avLst/>
            </a:prstGeom>
          </p:spPr>
        </p:pic>
        <p:sp>
          <p:nvSpPr>
            <p:cNvPr id="26" name="文本框 365">
              <a:extLst>
                <a:ext uri="{FF2B5EF4-FFF2-40B4-BE49-F238E27FC236}">
                  <a16:creationId xmlns:a16="http://schemas.microsoft.com/office/drawing/2014/main" id="{34ACD5BE-402A-0FF2-80F0-ED2D49573F2A}"/>
                </a:ext>
              </a:extLst>
            </p:cNvPr>
            <p:cNvSpPr txBox="1"/>
            <p:nvPr>
              <p:custDataLst>
                <p:tags r:id="rId4"/>
              </p:custDataLst>
            </p:nvPr>
          </p:nvSpPr>
          <p:spPr>
            <a:xfrm>
              <a:off x="4372441" y="3377623"/>
              <a:ext cx="1065530" cy="319835"/>
            </a:xfrm>
            <a:prstGeom prst="rect">
              <a:avLst/>
            </a:prstGeom>
            <a:solidFill>
              <a:schemeClr val="accent1">
                <a:lumMod val="40000"/>
                <a:lumOff val="60000"/>
              </a:schemeClr>
            </a:solidFill>
          </p:spPr>
          <p:txBody>
            <a:bodyPr wrap="square" lIns="0" tIns="0" rIns="0" bIns="0" anchor="ctr" anchorCtr="0">
              <a:noAutofit/>
            </a:bodyPr>
            <a:lstStyle/>
            <a:p>
              <a:pPr algn="ctr" defTabSz="685800"/>
              <a:r>
                <a:rPr lang="zh-CN" altLang="en-US" sz="1200" kern="0" dirty="0">
                  <a:solidFill>
                    <a:prstClr val="black"/>
                  </a:solidFill>
                  <a:latin typeface="微软雅黑" panose="020B0503020204020204" pitchFamily="34" charset="-122"/>
                  <a:ea typeface="微软雅黑" panose="020B0503020204020204" pitchFamily="34" charset="-122"/>
                </a:rPr>
                <a:t>集群状态统计</a:t>
              </a:r>
            </a:p>
          </p:txBody>
        </p:sp>
        <p:pic>
          <p:nvPicPr>
            <p:cNvPr id="27" name="图片 26" descr="图标&#10;&#10;描述已自动生成">
              <a:extLst>
                <a:ext uri="{FF2B5EF4-FFF2-40B4-BE49-F238E27FC236}">
                  <a16:creationId xmlns:a16="http://schemas.microsoft.com/office/drawing/2014/main" id="{93FE9D2C-CCBF-5605-0B02-1DF647DBAD37}"/>
                </a:ext>
              </a:extLst>
            </p:cNvPr>
            <p:cNvPicPr>
              <a:picLocks noChangeAspect="1"/>
            </p:cNvPicPr>
            <p:nvPr>
              <p:custDataLst>
                <p:tags r:id="rId5"/>
              </p:custDataLst>
            </p:nvPr>
          </p:nvPicPr>
          <p:blipFill>
            <a:blip r:embed="rId11"/>
            <a:stretch>
              <a:fillRect/>
            </a:stretch>
          </p:blipFill>
          <p:spPr>
            <a:xfrm>
              <a:off x="2456655" y="2566315"/>
              <a:ext cx="632986" cy="632986"/>
            </a:xfrm>
            <a:prstGeom prst="rect">
              <a:avLst/>
            </a:prstGeom>
          </p:spPr>
        </p:pic>
        <p:pic>
          <p:nvPicPr>
            <p:cNvPr id="28" name="图片 27">
              <a:extLst>
                <a:ext uri="{FF2B5EF4-FFF2-40B4-BE49-F238E27FC236}">
                  <a16:creationId xmlns:a16="http://schemas.microsoft.com/office/drawing/2014/main" id="{6A7FF0B3-5344-92BF-7E10-2D3CF381A7E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508862" y="2476279"/>
              <a:ext cx="862665" cy="862665"/>
            </a:xfrm>
            <a:prstGeom prst="rect">
              <a:avLst/>
            </a:prstGeom>
          </p:spPr>
        </p:pic>
        <p:cxnSp>
          <p:nvCxnSpPr>
            <p:cNvPr id="29" name="直接箭头连接符 28">
              <a:extLst>
                <a:ext uri="{FF2B5EF4-FFF2-40B4-BE49-F238E27FC236}">
                  <a16:creationId xmlns:a16="http://schemas.microsoft.com/office/drawing/2014/main" id="{A01463AD-EC69-C84D-C618-6932DE465119}"/>
                </a:ext>
              </a:extLst>
            </p:cNvPr>
            <p:cNvCxnSpPr>
              <a:cxnSpLocks/>
            </p:cNvCxnSpPr>
            <p:nvPr>
              <p:custDataLst>
                <p:tags r:id="rId6"/>
              </p:custDataLst>
            </p:nvPr>
          </p:nvCxnSpPr>
          <p:spPr>
            <a:xfrm>
              <a:off x="5742272" y="2907611"/>
              <a:ext cx="856106"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65">
              <a:extLst>
                <a:ext uri="{FF2B5EF4-FFF2-40B4-BE49-F238E27FC236}">
                  <a16:creationId xmlns:a16="http://schemas.microsoft.com/office/drawing/2014/main" id="{246ACA73-5905-132F-C289-4B40D18623D9}"/>
                </a:ext>
              </a:extLst>
            </p:cNvPr>
            <p:cNvSpPr txBox="1"/>
            <p:nvPr>
              <p:custDataLst>
                <p:tags r:id="rId7"/>
              </p:custDataLst>
            </p:nvPr>
          </p:nvSpPr>
          <p:spPr>
            <a:xfrm>
              <a:off x="6421880" y="3377622"/>
              <a:ext cx="1205352" cy="319835"/>
            </a:xfrm>
            <a:prstGeom prst="rect">
              <a:avLst/>
            </a:prstGeom>
            <a:solidFill>
              <a:schemeClr val="accent1">
                <a:lumMod val="40000"/>
                <a:lumOff val="60000"/>
              </a:schemeClr>
            </a:solidFill>
          </p:spPr>
          <p:txBody>
            <a:bodyPr wrap="square" lIns="0" tIns="0" rIns="0" bIns="0" anchor="ctr" anchorCtr="0">
              <a:noAutofit/>
            </a:bodyPr>
            <a:lstStyle/>
            <a:p>
              <a:pPr algn="ctr" defTabSz="685800"/>
              <a:r>
                <a:rPr lang="zh-CN" altLang="en-US" sz="1200" kern="0" dirty="0">
                  <a:solidFill>
                    <a:prstClr val="black"/>
                  </a:solidFill>
                  <a:latin typeface="微软雅黑" panose="020B0503020204020204" pitchFamily="34" charset="-122"/>
                  <a:ea typeface="微软雅黑" panose="020B0503020204020204" pitchFamily="34" charset="-122"/>
                </a:rPr>
                <a:t>状态监控智能体</a:t>
              </a:r>
            </a:p>
          </p:txBody>
        </p:sp>
      </p:grpSp>
      <p:sp>
        <p:nvSpPr>
          <p:cNvPr id="46" name="矩形 45">
            <a:extLst>
              <a:ext uri="{FF2B5EF4-FFF2-40B4-BE49-F238E27FC236}">
                <a16:creationId xmlns:a16="http://schemas.microsoft.com/office/drawing/2014/main" id="{B55A3BC3-37EC-AF21-9FF3-FED9F226AF3A}"/>
              </a:ext>
            </a:extLst>
          </p:cNvPr>
          <p:cNvSpPr/>
          <p:nvPr/>
        </p:nvSpPr>
        <p:spPr>
          <a:xfrm>
            <a:off x="1017178" y="1949166"/>
            <a:ext cx="11377295" cy="799706"/>
          </a:xfrm>
          <a:prstGeom prst="rect">
            <a:avLst/>
          </a:prstGeom>
        </p:spPr>
        <p:txBody>
          <a:bodyPr wrap="square" anchor="ctr" anchorCtr="0">
            <a:spAutoFit/>
          </a:bodyPr>
          <a:lstStyle/>
          <a:p>
            <a:pPr marL="285750" indent="-285750" algn="just">
              <a:lnSpc>
                <a:spcPct val="120000"/>
              </a:lnSpc>
              <a:buFont typeface="Wingdings" panose="05000000000000000000" pitchFamily="2" charset="2"/>
              <a:buChar char="p"/>
            </a:pPr>
            <a:r>
              <a:rPr lang="zh-CN" altLang="en-US" sz="2000" dirty="0"/>
              <a:t>上下文窗口限制以及集群结构化状态导致输入冗长</a:t>
            </a:r>
            <a:endParaRPr lang="en-US" altLang="zh-CN" sz="2000" dirty="0"/>
          </a:p>
          <a:p>
            <a:pPr marL="285750" indent="-285750" algn="just">
              <a:lnSpc>
                <a:spcPct val="120000"/>
              </a:lnSpc>
              <a:buFont typeface="Wingdings" panose="05000000000000000000" pitchFamily="2" charset="2"/>
              <a:buChar char="p"/>
            </a:pPr>
            <a:r>
              <a:rPr lang="en-US" altLang="zh-CN" sz="2000" dirty="0"/>
              <a:t>LLM </a:t>
            </a:r>
            <a:r>
              <a:rPr lang="zh-CN" altLang="en-US" sz="2000" dirty="0"/>
              <a:t>难以从碎片化状态中构建整体语义，容易忽视整体状态</a:t>
            </a:r>
            <a:endParaRPr lang="zh-CN" altLang="en-US" sz="2000" b="1" dirty="0">
              <a:solidFill>
                <a:srgbClr val="0000CC"/>
              </a:solidFill>
              <a:latin typeface="+mn-ea"/>
              <a:cs typeface="Times New Roman" panose="02020603050405020304" charset="0"/>
              <a:sym typeface="+mn-ea"/>
            </a:endParaRPr>
          </a:p>
        </p:txBody>
      </p:sp>
      <p:sp>
        <p:nvSpPr>
          <p:cNvPr id="50" name="内容占位符 2">
            <a:extLst>
              <a:ext uri="{FF2B5EF4-FFF2-40B4-BE49-F238E27FC236}">
                <a16:creationId xmlns:a16="http://schemas.microsoft.com/office/drawing/2014/main" id="{8A5E0C46-7B01-D24F-0A0C-947C79E1EBDB}"/>
              </a:ext>
            </a:extLst>
          </p:cNvPr>
          <p:cNvSpPr txBox="1">
            <a:spLocks/>
          </p:cNvSpPr>
          <p:nvPr/>
        </p:nvSpPr>
        <p:spPr>
          <a:xfrm>
            <a:off x="475816" y="4766588"/>
            <a:ext cx="11651848" cy="520528"/>
          </a:xfrm>
          <a:prstGeom prst="rect">
            <a:avLst/>
          </a:prstGeom>
        </p:spPr>
        <p:txBody>
          <a:bodyPr vert="horz" wrap="square" lIns="91440" tIns="0" rIns="91440" bIns="46800" rtlCol="0">
            <a:spAutoFit/>
          </a:bodyPr>
          <a:lstStyle>
            <a:lvl1pPr marL="431800" indent="-431800" algn="l" defTabSz="914400" rtl="0" eaLnBrk="1" latinLnBrk="0" hangingPunct="1">
              <a:lnSpc>
                <a:spcPct val="120000"/>
              </a:lnSpc>
              <a:spcBef>
                <a:spcPts val="0"/>
              </a:spcBef>
              <a:buClr>
                <a:srgbClr val="C00000"/>
              </a:buClr>
              <a:buSzPct val="100000"/>
              <a:buFont typeface="Wingdings" panose="05000000000000000000" pitchFamily="2" charset="2"/>
              <a:buChar char="p"/>
              <a:defRPr lang="zh-CN" altLang="en-US" sz="2800" b="1" kern="0" smtClean="0">
                <a:solidFill>
                  <a:schemeClr val="tx1"/>
                </a:solidFill>
                <a:latin typeface="+mn-lt"/>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lumMod val="10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lumMod val="10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kern="1200" dirty="0">
                <a:latin typeface="+mn-ea"/>
                <a:ea typeface="+mn-ea"/>
                <a:cs typeface="Times New Roman" panose="02020603050405020304" charset="0"/>
              </a:rPr>
              <a:t>方案</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4"/>
          </p:nvPr>
        </p:nvSpPr>
        <p:spPr>
          <a:xfrm>
            <a:off x="304800" y="949936"/>
            <a:ext cx="11651848" cy="520528"/>
          </a:xfrm>
        </p:spPr>
        <p:txBody>
          <a:bodyPr/>
          <a:lstStyle/>
          <a:p>
            <a:r>
              <a:rPr lang="zh-CN" altLang="en-US" kern="1200" dirty="0">
                <a:latin typeface="+mn-ea"/>
                <a:ea typeface="+mn-ea"/>
                <a:cs typeface="Times New Roman" panose="02020603050405020304" charset="0"/>
              </a:rPr>
              <a:t>挑战</a:t>
            </a:r>
          </a:p>
        </p:txBody>
      </p:sp>
      <p:sp>
        <p:nvSpPr>
          <p:cNvPr id="12" name="矩形 11"/>
          <p:cNvSpPr/>
          <p:nvPr/>
        </p:nvSpPr>
        <p:spPr>
          <a:xfrm>
            <a:off x="579120" y="1466850"/>
            <a:ext cx="11445240" cy="430374"/>
          </a:xfrm>
          <a:prstGeom prst="rect">
            <a:avLst/>
          </a:prstGeom>
        </p:spPr>
        <p:txBody>
          <a:bodyPr wrap="square">
            <a:spAutoFit/>
          </a:bodyPr>
          <a:lstStyle/>
          <a:p>
            <a:pPr marL="285750" indent="-285750">
              <a:lnSpc>
                <a:spcPct val="120000"/>
              </a:lnSpc>
              <a:buFont typeface="Wingdings" panose="05000000000000000000" pitchFamily="2" charset="2"/>
              <a:buChar char="p"/>
            </a:pPr>
            <a:r>
              <a:rPr lang="zh-CN" altLang="en-US" sz="2000" b="1" kern="0" dirty="0">
                <a:ea typeface="微软雅黑" panose="020B0503020204020204" pitchFamily="34" charset="-122"/>
              </a:rPr>
              <a:t>单个智能体难以同时承担集群监控、状态抽象与策略切换的全流程</a:t>
            </a:r>
            <a:endParaRPr lang="zh-CN" altLang="en-US" sz="2000" b="1" kern="0" dirty="0">
              <a:ea typeface="微软雅黑" panose="020B0503020204020204" pitchFamily="34" charset="-122"/>
              <a:sym typeface="+mn-ea"/>
            </a:endParaRPr>
          </a:p>
        </p:txBody>
      </p:sp>
      <p:sp>
        <p:nvSpPr>
          <p:cNvPr id="4" name="内容占位符 1"/>
          <p:cNvSpPr>
            <a:spLocks noGrp="1"/>
          </p:cNvSpPr>
          <p:nvPr>
            <p:ph sz="quarter" idx="13"/>
          </p:nvPr>
        </p:nvSpPr>
        <p:spPr>
          <a:xfrm>
            <a:off x="304800" y="187325"/>
            <a:ext cx="10356215" cy="666750"/>
          </a:xfrm>
        </p:spPr>
        <p:txBody>
          <a:bodyPr anchor="b" anchorCtr="0">
            <a:noAutofit/>
          </a:bodyPr>
          <a:lstStyle/>
          <a:p>
            <a:pPr>
              <a:lnSpc>
                <a:spcPct val="110000"/>
              </a:lnSpc>
            </a:pPr>
            <a:r>
              <a:rPr lang="zh-CN" altLang="en-US" dirty="0">
                <a:latin typeface="+mn-ea"/>
                <a:cs typeface="Times New Roman" panose="02020603050405020304" charset="0"/>
              </a:rPr>
              <a:t>基于大模型多智能体</a:t>
            </a:r>
            <a:r>
              <a:rPr lang="zh-CN" altLang="en-US" dirty="0">
                <a:ln w="0"/>
                <a:effectLst>
                  <a:outerShdw blurRad="38100" dist="19050" dir="2700000" algn="tl" rotWithShape="0">
                    <a:prstClr val="black">
                      <a:alpha val="40000"/>
                    </a:prstClr>
                  </a:outerShdw>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的调度系统</a:t>
            </a:r>
            <a:endParaRPr lang="zh-CN" altLang="en-US" dirty="0">
              <a:latin typeface="+mn-ea"/>
              <a:cs typeface="Times New Roman" panose="02020603050405020304" charset="0"/>
            </a:endParaRPr>
          </a:p>
        </p:txBody>
      </p:sp>
      <p:sp>
        <p:nvSpPr>
          <p:cNvPr id="75" name="矩形 74"/>
          <p:cNvSpPr/>
          <p:nvPr/>
        </p:nvSpPr>
        <p:spPr>
          <a:xfrm>
            <a:off x="908221" y="1920203"/>
            <a:ext cx="11082483" cy="799706"/>
          </a:xfrm>
          <a:prstGeom prst="rect">
            <a:avLst/>
          </a:prstGeom>
        </p:spPr>
        <p:txBody>
          <a:bodyPr wrap="square">
            <a:spAutoFit/>
          </a:bodyPr>
          <a:lstStyle/>
          <a:p>
            <a:pPr marL="285750" indent="-285750" algn="just">
              <a:lnSpc>
                <a:spcPct val="120000"/>
              </a:lnSpc>
              <a:buFont typeface="Wingdings" panose="05000000000000000000" pitchFamily="2" charset="2"/>
              <a:buChar char="p"/>
            </a:pPr>
            <a:r>
              <a:rPr lang="zh-CN" altLang="en-US" sz="2000" dirty="0"/>
              <a:t>对集群的结构化状态以及用户需求进行整合抽象，再结合策略推理评估不同调度策略在公平性与性能等需求之间的权衡，这两类能力在单个智能体内部会产生注意力竞争与语义干扰。</a:t>
            </a:r>
            <a:endParaRPr lang="zh-CN" altLang="en-US" sz="2000" b="1" dirty="0">
              <a:solidFill>
                <a:srgbClr val="0000CC"/>
              </a:solidFill>
              <a:latin typeface="+mn-ea"/>
              <a:cs typeface="Times New Roman" panose="02020603050405020304" charset="0"/>
              <a:sym typeface="+mn-ea"/>
            </a:endParaRPr>
          </a:p>
        </p:txBody>
      </p:sp>
      <p:pic>
        <p:nvPicPr>
          <p:cNvPr id="31" name="图片 30" descr="机器人">
            <a:extLst>
              <a:ext uri="{FF2B5EF4-FFF2-40B4-BE49-F238E27FC236}">
                <a16:creationId xmlns:a16="http://schemas.microsoft.com/office/drawing/2014/main" id="{893C66A3-3AAF-9165-8F3E-533BD87F6C35}"/>
              </a:ext>
            </a:extLst>
          </p:cNvPr>
          <p:cNvPicPr>
            <a:picLocks noChangeAspect="1"/>
          </p:cNvPicPr>
          <p:nvPr/>
        </p:nvPicPr>
        <p:blipFill>
          <a:blip r:embed="rId20"/>
          <a:stretch>
            <a:fillRect/>
          </a:stretch>
        </p:blipFill>
        <p:spPr>
          <a:xfrm>
            <a:off x="3842876" y="3263785"/>
            <a:ext cx="513613" cy="513613"/>
          </a:xfrm>
          <a:prstGeom prst="rect">
            <a:avLst/>
          </a:prstGeom>
        </p:spPr>
      </p:pic>
      <p:cxnSp>
        <p:nvCxnSpPr>
          <p:cNvPr id="39" name="直接箭头连接符 38">
            <a:extLst>
              <a:ext uri="{FF2B5EF4-FFF2-40B4-BE49-F238E27FC236}">
                <a16:creationId xmlns:a16="http://schemas.microsoft.com/office/drawing/2014/main" id="{11BE9FA5-7B54-1890-B618-23C2E7C882F4}"/>
              </a:ext>
            </a:extLst>
          </p:cNvPr>
          <p:cNvCxnSpPr>
            <a:cxnSpLocks/>
          </p:cNvCxnSpPr>
          <p:nvPr>
            <p:custDataLst>
              <p:tags r:id="rId1"/>
            </p:custDataLst>
          </p:nvPr>
        </p:nvCxnSpPr>
        <p:spPr>
          <a:xfrm flipV="1">
            <a:off x="7999292" y="4325547"/>
            <a:ext cx="0" cy="142196"/>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1" name="图片 40">
            <a:extLst>
              <a:ext uri="{FF2B5EF4-FFF2-40B4-BE49-F238E27FC236}">
                <a16:creationId xmlns:a16="http://schemas.microsoft.com/office/drawing/2014/main" id="{69C8C976-7092-3DBC-A54D-2838639CA9F7}"/>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5641360" y="3036287"/>
            <a:ext cx="702027" cy="702027"/>
          </a:xfrm>
          <a:prstGeom prst="rect">
            <a:avLst/>
          </a:prstGeom>
        </p:spPr>
      </p:pic>
      <p:cxnSp>
        <p:nvCxnSpPr>
          <p:cNvPr id="42" name="直接箭头连接符 41">
            <a:extLst>
              <a:ext uri="{FF2B5EF4-FFF2-40B4-BE49-F238E27FC236}">
                <a16:creationId xmlns:a16="http://schemas.microsoft.com/office/drawing/2014/main" id="{90624DB6-E6E9-3CD6-B9B6-F9657D4BBE33}"/>
              </a:ext>
            </a:extLst>
          </p:cNvPr>
          <p:cNvCxnSpPr>
            <a:cxnSpLocks/>
          </p:cNvCxnSpPr>
          <p:nvPr>
            <p:custDataLst>
              <p:tags r:id="rId2"/>
            </p:custDataLst>
          </p:nvPr>
        </p:nvCxnSpPr>
        <p:spPr>
          <a:xfrm>
            <a:off x="4749431" y="3577786"/>
            <a:ext cx="814273"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365">
            <a:extLst>
              <a:ext uri="{FF2B5EF4-FFF2-40B4-BE49-F238E27FC236}">
                <a16:creationId xmlns:a16="http://schemas.microsoft.com/office/drawing/2014/main" id="{247CBF00-8DB4-F358-6A89-F68D73DEEDE3}"/>
              </a:ext>
            </a:extLst>
          </p:cNvPr>
          <p:cNvSpPr txBox="1"/>
          <p:nvPr>
            <p:custDataLst>
              <p:tags r:id="rId3"/>
            </p:custDataLst>
          </p:nvPr>
        </p:nvSpPr>
        <p:spPr>
          <a:xfrm>
            <a:off x="3602978" y="3973353"/>
            <a:ext cx="1146453" cy="183757"/>
          </a:xfrm>
          <a:prstGeom prst="rect">
            <a:avLst/>
          </a:prstGeom>
          <a:solidFill>
            <a:schemeClr val="accent1">
              <a:lumMod val="40000"/>
              <a:lumOff val="60000"/>
            </a:schemeClr>
          </a:solidFill>
        </p:spPr>
        <p:txBody>
          <a:bodyPr wrap="square" lIns="0" tIns="0" rIns="0" bIns="0" anchor="ctr" anchorCtr="0">
            <a:noAutofit/>
          </a:bodyPr>
          <a:lstStyle/>
          <a:p>
            <a:pPr algn="ctr" defTabSz="685800"/>
            <a:r>
              <a:rPr lang="zh-CN" altLang="en-US" sz="1200" kern="0" dirty="0">
                <a:solidFill>
                  <a:prstClr val="black"/>
                </a:solidFill>
                <a:latin typeface="微软雅黑" panose="020B0503020204020204" pitchFamily="34" charset="-122"/>
                <a:ea typeface="微软雅黑" panose="020B0503020204020204" pitchFamily="34" charset="-122"/>
              </a:rPr>
              <a:t>状态监控智能体</a:t>
            </a:r>
          </a:p>
        </p:txBody>
      </p:sp>
      <p:sp>
        <p:nvSpPr>
          <p:cNvPr id="48" name="文本框 365">
            <a:extLst>
              <a:ext uri="{FF2B5EF4-FFF2-40B4-BE49-F238E27FC236}">
                <a16:creationId xmlns:a16="http://schemas.microsoft.com/office/drawing/2014/main" id="{FB7306E4-91E3-A921-F4E9-143DD349941D}"/>
              </a:ext>
            </a:extLst>
          </p:cNvPr>
          <p:cNvSpPr txBox="1"/>
          <p:nvPr>
            <p:custDataLst>
              <p:tags r:id="rId4"/>
            </p:custDataLst>
          </p:nvPr>
        </p:nvSpPr>
        <p:spPr>
          <a:xfrm>
            <a:off x="5497098" y="3973353"/>
            <a:ext cx="1013463" cy="183757"/>
          </a:xfrm>
          <a:prstGeom prst="rect">
            <a:avLst/>
          </a:prstGeom>
          <a:solidFill>
            <a:schemeClr val="accent1">
              <a:lumMod val="40000"/>
              <a:lumOff val="60000"/>
            </a:schemeClr>
          </a:solidFill>
        </p:spPr>
        <p:txBody>
          <a:bodyPr wrap="square" lIns="0" tIns="0" rIns="0" bIns="0" anchor="ctr" anchorCtr="0">
            <a:noAutofit/>
          </a:bodyPr>
          <a:lstStyle/>
          <a:p>
            <a:pPr algn="ctr" defTabSz="685800"/>
            <a:r>
              <a:rPr lang="zh-CN" altLang="en-US" sz="1200" kern="0" dirty="0">
                <a:solidFill>
                  <a:prstClr val="black"/>
                </a:solidFill>
                <a:latin typeface="微软雅黑" panose="020B0503020204020204" pitchFamily="34" charset="-122"/>
                <a:ea typeface="微软雅黑" panose="020B0503020204020204" pitchFamily="34" charset="-122"/>
              </a:rPr>
              <a:t>集群状态描述</a:t>
            </a:r>
          </a:p>
        </p:txBody>
      </p:sp>
      <p:pic>
        <p:nvPicPr>
          <p:cNvPr id="50" name="图片 49" descr="机器人">
            <a:extLst>
              <a:ext uri="{FF2B5EF4-FFF2-40B4-BE49-F238E27FC236}">
                <a16:creationId xmlns:a16="http://schemas.microsoft.com/office/drawing/2014/main" id="{E74C0AF4-6C59-17E9-2228-732EAA22A041}"/>
              </a:ext>
            </a:extLst>
          </p:cNvPr>
          <p:cNvPicPr>
            <a:picLocks noChangeAspect="1"/>
          </p:cNvPicPr>
          <p:nvPr/>
        </p:nvPicPr>
        <p:blipFill>
          <a:blip r:embed="rId20"/>
          <a:stretch>
            <a:fillRect/>
          </a:stretch>
        </p:blipFill>
        <p:spPr>
          <a:xfrm>
            <a:off x="7651156" y="3161152"/>
            <a:ext cx="513613" cy="513613"/>
          </a:xfrm>
          <a:prstGeom prst="rect">
            <a:avLst/>
          </a:prstGeom>
        </p:spPr>
      </p:pic>
      <p:sp>
        <p:nvSpPr>
          <p:cNvPr id="52" name="文本框 365">
            <a:extLst>
              <a:ext uri="{FF2B5EF4-FFF2-40B4-BE49-F238E27FC236}">
                <a16:creationId xmlns:a16="http://schemas.microsoft.com/office/drawing/2014/main" id="{D0929601-BEB2-DD53-A867-ABA12A83D40E}"/>
              </a:ext>
            </a:extLst>
          </p:cNvPr>
          <p:cNvSpPr txBox="1"/>
          <p:nvPr>
            <p:custDataLst>
              <p:tags r:id="rId5"/>
            </p:custDataLst>
          </p:nvPr>
        </p:nvSpPr>
        <p:spPr>
          <a:xfrm>
            <a:off x="7258228" y="3980296"/>
            <a:ext cx="1146453" cy="183757"/>
          </a:xfrm>
          <a:prstGeom prst="rect">
            <a:avLst/>
          </a:prstGeom>
          <a:solidFill>
            <a:schemeClr val="accent1">
              <a:lumMod val="40000"/>
              <a:lumOff val="60000"/>
            </a:schemeClr>
          </a:solidFill>
        </p:spPr>
        <p:txBody>
          <a:bodyPr wrap="square" lIns="0" tIns="0" rIns="0" bIns="0" anchor="ctr" anchorCtr="0">
            <a:noAutofit/>
          </a:bodyPr>
          <a:lstStyle/>
          <a:p>
            <a:pPr algn="ctr" defTabSz="685800"/>
            <a:r>
              <a:rPr lang="zh-CN" altLang="en-US" sz="1200" kern="0" dirty="0">
                <a:solidFill>
                  <a:prstClr val="black"/>
                </a:solidFill>
                <a:latin typeface="微软雅黑" panose="020B0503020204020204" pitchFamily="34" charset="-122"/>
                <a:ea typeface="微软雅黑" panose="020B0503020204020204" pitchFamily="34" charset="-122"/>
              </a:rPr>
              <a:t>策略选择智能体</a:t>
            </a:r>
          </a:p>
        </p:txBody>
      </p:sp>
      <p:pic>
        <p:nvPicPr>
          <p:cNvPr id="55" name="图片 54">
            <a:extLst>
              <a:ext uri="{FF2B5EF4-FFF2-40B4-BE49-F238E27FC236}">
                <a16:creationId xmlns:a16="http://schemas.microsoft.com/office/drawing/2014/main" id="{8D6E88CD-AC6D-80FC-63DA-DD3373EE5626}"/>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682101" y="4526883"/>
            <a:ext cx="673861" cy="673861"/>
          </a:xfrm>
          <a:prstGeom prst="rect">
            <a:avLst/>
          </a:prstGeom>
        </p:spPr>
      </p:pic>
      <p:cxnSp>
        <p:nvCxnSpPr>
          <p:cNvPr id="61" name="直接箭头连接符 60">
            <a:extLst>
              <a:ext uri="{FF2B5EF4-FFF2-40B4-BE49-F238E27FC236}">
                <a16:creationId xmlns:a16="http://schemas.microsoft.com/office/drawing/2014/main" id="{D27F4F25-22F5-0F4B-C679-7B8D14E31B76}"/>
              </a:ext>
            </a:extLst>
          </p:cNvPr>
          <p:cNvCxnSpPr>
            <a:cxnSpLocks/>
          </p:cNvCxnSpPr>
          <p:nvPr>
            <p:custDataLst>
              <p:tags r:id="rId6"/>
            </p:custDataLst>
          </p:nvPr>
        </p:nvCxnSpPr>
        <p:spPr>
          <a:xfrm>
            <a:off x="6559550" y="3528710"/>
            <a:ext cx="814273"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5" name="图片 64" descr="机器人">
            <a:extLst>
              <a:ext uri="{FF2B5EF4-FFF2-40B4-BE49-F238E27FC236}">
                <a16:creationId xmlns:a16="http://schemas.microsoft.com/office/drawing/2014/main" id="{7329A532-8061-3813-B34D-CFDAB1AB5566}"/>
              </a:ext>
            </a:extLst>
          </p:cNvPr>
          <p:cNvPicPr>
            <a:picLocks noChangeAspect="1"/>
          </p:cNvPicPr>
          <p:nvPr/>
        </p:nvPicPr>
        <p:blipFill>
          <a:blip r:embed="rId20"/>
          <a:stretch>
            <a:fillRect/>
          </a:stretch>
        </p:blipFill>
        <p:spPr>
          <a:xfrm>
            <a:off x="5829774" y="4578664"/>
            <a:ext cx="513613" cy="513613"/>
          </a:xfrm>
          <a:prstGeom prst="rect">
            <a:avLst/>
          </a:prstGeom>
        </p:spPr>
      </p:pic>
      <p:sp>
        <p:nvSpPr>
          <p:cNvPr id="76" name="文本框 365">
            <a:extLst>
              <a:ext uri="{FF2B5EF4-FFF2-40B4-BE49-F238E27FC236}">
                <a16:creationId xmlns:a16="http://schemas.microsoft.com/office/drawing/2014/main" id="{D5D8AAFF-307B-543A-E081-647E11EEB251}"/>
              </a:ext>
            </a:extLst>
          </p:cNvPr>
          <p:cNvSpPr txBox="1"/>
          <p:nvPr>
            <p:custDataLst>
              <p:tags r:id="rId7"/>
            </p:custDataLst>
          </p:nvPr>
        </p:nvSpPr>
        <p:spPr>
          <a:xfrm>
            <a:off x="5497098" y="5242509"/>
            <a:ext cx="1146453" cy="183757"/>
          </a:xfrm>
          <a:prstGeom prst="rect">
            <a:avLst/>
          </a:prstGeom>
          <a:solidFill>
            <a:schemeClr val="accent1">
              <a:lumMod val="40000"/>
              <a:lumOff val="60000"/>
            </a:schemeClr>
          </a:solidFill>
        </p:spPr>
        <p:txBody>
          <a:bodyPr wrap="square" lIns="0" tIns="0" rIns="0" bIns="0" anchor="ctr" anchorCtr="0">
            <a:noAutofit/>
          </a:bodyPr>
          <a:lstStyle/>
          <a:p>
            <a:pPr algn="ctr" defTabSz="685800"/>
            <a:r>
              <a:rPr lang="zh-CN" altLang="en-US" sz="1200" kern="0" dirty="0">
                <a:solidFill>
                  <a:prstClr val="black"/>
                </a:solidFill>
                <a:latin typeface="微软雅黑" panose="020B0503020204020204" pitchFamily="34" charset="-122"/>
                <a:ea typeface="微软雅黑" panose="020B0503020204020204" pitchFamily="34" charset="-122"/>
              </a:rPr>
              <a:t>策略总结智能体</a:t>
            </a:r>
          </a:p>
        </p:txBody>
      </p:sp>
      <p:cxnSp>
        <p:nvCxnSpPr>
          <p:cNvPr id="77" name="直接箭头连接符 76">
            <a:extLst>
              <a:ext uri="{FF2B5EF4-FFF2-40B4-BE49-F238E27FC236}">
                <a16:creationId xmlns:a16="http://schemas.microsoft.com/office/drawing/2014/main" id="{E8BC710C-B39B-AA84-3655-850CF520626B}"/>
              </a:ext>
            </a:extLst>
          </p:cNvPr>
          <p:cNvCxnSpPr>
            <a:cxnSpLocks/>
          </p:cNvCxnSpPr>
          <p:nvPr>
            <p:custDataLst>
              <p:tags r:id="rId8"/>
            </p:custDataLst>
          </p:nvPr>
        </p:nvCxnSpPr>
        <p:spPr>
          <a:xfrm>
            <a:off x="6678363" y="4861663"/>
            <a:ext cx="814273"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80" name="图片 79">
            <a:extLst>
              <a:ext uri="{FF2B5EF4-FFF2-40B4-BE49-F238E27FC236}">
                <a16:creationId xmlns:a16="http://schemas.microsoft.com/office/drawing/2014/main" id="{A28F3D0A-C8EA-6B29-2451-66386EC5DC82}"/>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3805445" y="4298379"/>
            <a:ext cx="886818" cy="886818"/>
          </a:xfrm>
          <a:prstGeom prst="rect">
            <a:avLst/>
          </a:prstGeom>
        </p:spPr>
      </p:pic>
      <p:sp>
        <p:nvSpPr>
          <p:cNvPr id="81" name="文本框 365">
            <a:extLst>
              <a:ext uri="{FF2B5EF4-FFF2-40B4-BE49-F238E27FC236}">
                <a16:creationId xmlns:a16="http://schemas.microsoft.com/office/drawing/2014/main" id="{4CBBA5AD-2ABF-016C-AF1C-3E84A19CEEB8}"/>
              </a:ext>
            </a:extLst>
          </p:cNvPr>
          <p:cNvSpPr txBox="1"/>
          <p:nvPr>
            <p:custDataLst>
              <p:tags r:id="rId9"/>
            </p:custDataLst>
          </p:nvPr>
        </p:nvSpPr>
        <p:spPr>
          <a:xfrm>
            <a:off x="3776810" y="5242509"/>
            <a:ext cx="1146453" cy="183757"/>
          </a:xfrm>
          <a:prstGeom prst="rect">
            <a:avLst/>
          </a:prstGeom>
          <a:solidFill>
            <a:schemeClr val="accent1">
              <a:lumMod val="40000"/>
              <a:lumOff val="60000"/>
            </a:schemeClr>
          </a:solidFill>
        </p:spPr>
        <p:txBody>
          <a:bodyPr wrap="square" lIns="0" tIns="0" rIns="0" bIns="0" anchor="ctr" anchorCtr="0">
            <a:noAutofit/>
          </a:bodyPr>
          <a:lstStyle/>
          <a:p>
            <a:pPr algn="ctr" defTabSz="685800"/>
            <a:r>
              <a:rPr lang="zh-CN" altLang="en-US" sz="1200" kern="0" dirty="0">
                <a:solidFill>
                  <a:prstClr val="black"/>
                </a:solidFill>
                <a:latin typeface="微软雅黑" panose="020B0503020204020204" pitchFamily="34" charset="-122"/>
                <a:ea typeface="微软雅黑" panose="020B0503020204020204" pitchFamily="34" charset="-122"/>
              </a:rPr>
              <a:t>调度策略</a:t>
            </a:r>
          </a:p>
        </p:txBody>
      </p:sp>
      <p:cxnSp>
        <p:nvCxnSpPr>
          <p:cNvPr id="82" name="直接箭头连接符 81">
            <a:extLst>
              <a:ext uri="{FF2B5EF4-FFF2-40B4-BE49-F238E27FC236}">
                <a16:creationId xmlns:a16="http://schemas.microsoft.com/office/drawing/2014/main" id="{15984635-F5D3-CD87-EE5E-6DEC1CA3941C}"/>
              </a:ext>
            </a:extLst>
          </p:cNvPr>
          <p:cNvCxnSpPr>
            <a:cxnSpLocks/>
          </p:cNvCxnSpPr>
          <p:nvPr>
            <p:custDataLst>
              <p:tags r:id="rId10"/>
            </p:custDataLst>
          </p:nvPr>
        </p:nvCxnSpPr>
        <p:spPr>
          <a:xfrm>
            <a:off x="4879133" y="4848664"/>
            <a:ext cx="814273"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2A4A172D-8AA0-C93A-08CC-ED05C768BD01}"/>
              </a:ext>
            </a:extLst>
          </p:cNvPr>
          <p:cNvCxnSpPr>
            <a:cxnSpLocks/>
          </p:cNvCxnSpPr>
          <p:nvPr>
            <p:custDataLst>
              <p:tags r:id="rId11"/>
            </p:custDataLst>
          </p:nvPr>
        </p:nvCxnSpPr>
        <p:spPr>
          <a:xfrm>
            <a:off x="8577815" y="3528710"/>
            <a:ext cx="814273"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9" name="组合 88">
            <a:extLst>
              <a:ext uri="{FF2B5EF4-FFF2-40B4-BE49-F238E27FC236}">
                <a16:creationId xmlns:a16="http://schemas.microsoft.com/office/drawing/2014/main" id="{042D5DBA-3D9C-12F9-7B1D-73F15EE7C7DA}"/>
              </a:ext>
            </a:extLst>
          </p:cNvPr>
          <p:cNvGrpSpPr/>
          <p:nvPr/>
        </p:nvGrpSpPr>
        <p:grpSpPr>
          <a:xfrm>
            <a:off x="9621824" y="3005900"/>
            <a:ext cx="1009259" cy="732413"/>
            <a:chOff x="7844045" y="2440403"/>
            <a:chExt cx="1061110" cy="1131836"/>
          </a:xfrm>
        </p:grpSpPr>
        <p:pic>
          <p:nvPicPr>
            <p:cNvPr id="86" name="图片 85">
              <a:extLst>
                <a:ext uri="{FF2B5EF4-FFF2-40B4-BE49-F238E27FC236}">
                  <a16:creationId xmlns:a16="http://schemas.microsoft.com/office/drawing/2014/main" id="{9B903783-6673-F2A1-CDB4-68628A0674B8}"/>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844045" y="2440403"/>
              <a:ext cx="852188" cy="852188"/>
            </a:xfrm>
            <a:prstGeom prst="rect">
              <a:avLst/>
            </a:prstGeom>
          </p:spPr>
        </p:pic>
        <p:pic>
          <p:nvPicPr>
            <p:cNvPr id="87" name="图片 86">
              <a:extLst>
                <a:ext uri="{FF2B5EF4-FFF2-40B4-BE49-F238E27FC236}">
                  <a16:creationId xmlns:a16="http://schemas.microsoft.com/office/drawing/2014/main" id="{3A2DDB32-5E07-FEFD-2381-AE743B8ADE95}"/>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948506" y="2596497"/>
              <a:ext cx="852188" cy="852188"/>
            </a:xfrm>
            <a:prstGeom prst="rect">
              <a:avLst/>
            </a:prstGeom>
          </p:spPr>
        </p:pic>
        <p:pic>
          <p:nvPicPr>
            <p:cNvPr id="88" name="图片 87">
              <a:extLst>
                <a:ext uri="{FF2B5EF4-FFF2-40B4-BE49-F238E27FC236}">
                  <a16:creationId xmlns:a16="http://schemas.microsoft.com/office/drawing/2014/main" id="{C1C40CFF-EB73-1F41-FE4D-AAECE5B0CD4B}"/>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8052967" y="2720051"/>
              <a:ext cx="852188" cy="852188"/>
            </a:xfrm>
            <a:prstGeom prst="rect">
              <a:avLst/>
            </a:prstGeom>
          </p:spPr>
        </p:pic>
      </p:grpSp>
      <p:sp>
        <p:nvSpPr>
          <p:cNvPr id="90" name="文本框 365">
            <a:extLst>
              <a:ext uri="{FF2B5EF4-FFF2-40B4-BE49-F238E27FC236}">
                <a16:creationId xmlns:a16="http://schemas.microsoft.com/office/drawing/2014/main" id="{A139C68B-5BBC-3893-59DD-08947BB83B50}"/>
              </a:ext>
            </a:extLst>
          </p:cNvPr>
          <p:cNvSpPr txBox="1"/>
          <p:nvPr>
            <p:custDataLst>
              <p:tags r:id="rId12"/>
            </p:custDataLst>
          </p:nvPr>
        </p:nvSpPr>
        <p:spPr>
          <a:xfrm>
            <a:off x="9652583" y="3942174"/>
            <a:ext cx="1146453" cy="183757"/>
          </a:xfrm>
          <a:prstGeom prst="rect">
            <a:avLst/>
          </a:prstGeom>
          <a:solidFill>
            <a:schemeClr val="accent1">
              <a:lumMod val="40000"/>
              <a:lumOff val="60000"/>
            </a:schemeClr>
          </a:solidFill>
        </p:spPr>
        <p:txBody>
          <a:bodyPr wrap="square" lIns="0" tIns="0" rIns="0" bIns="0" anchor="ctr" anchorCtr="0">
            <a:noAutofit/>
          </a:bodyPr>
          <a:lstStyle/>
          <a:p>
            <a:pPr algn="ctr" defTabSz="685800"/>
            <a:r>
              <a:rPr lang="zh-CN" altLang="en-US" sz="1200" kern="0" dirty="0">
                <a:solidFill>
                  <a:prstClr val="black"/>
                </a:solidFill>
                <a:latin typeface="微软雅黑" panose="020B0503020204020204" pitchFamily="34" charset="-122"/>
                <a:ea typeface="微软雅黑" panose="020B0503020204020204" pitchFamily="34" charset="-122"/>
              </a:rPr>
              <a:t>策略部署</a:t>
            </a:r>
          </a:p>
        </p:txBody>
      </p:sp>
      <p:sp>
        <p:nvSpPr>
          <p:cNvPr id="91" name="文本框 365">
            <a:extLst>
              <a:ext uri="{FF2B5EF4-FFF2-40B4-BE49-F238E27FC236}">
                <a16:creationId xmlns:a16="http://schemas.microsoft.com/office/drawing/2014/main" id="{560E042A-48C5-8B33-19B7-40CA48EA0853}"/>
              </a:ext>
            </a:extLst>
          </p:cNvPr>
          <p:cNvSpPr txBox="1"/>
          <p:nvPr>
            <p:custDataLst>
              <p:tags r:id="rId13"/>
            </p:custDataLst>
          </p:nvPr>
        </p:nvSpPr>
        <p:spPr>
          <a:xfrm>
            <a:off x="7431362" y="5283892"/>
            <a:ext cx="1146453" cy="183757"/>
          </a:xfrm>
          <a:prstGeom prst="rect">
            <a:avLst/>
          </a:prstGeom>
          <a:solidFill>
            <a:schemeClr val="accent1">
              <a:lumMod val="40000"/>
              <a:lumOff val="60000"/>
            </a:schemeClr>
          </a:solidFill>
        </p:spPr>
        <p:txBody>
          <a:bodyPr wrap="square" lIns="0" tIns="0" rIns="0" bIns="0" anchor="ctr" anchorCtr="0">
            <a:noAutofit/>
          </a:bodyPr>
          <a:lstStyle/>
          <a:p>
            <a:pPr algn="ctr" defTabSz="685800"/>
            <a:r>
              <a:rPr lang="zh-CN" altLang="en-US" sz="1200" kern="0" dirty="0">
                <a:solidFill>
                  <a:prstClr val="black"/>
                </a:solidFill>
                <a:latin typeface="微软雅黑" panose="020B0503020204020204" pitchFamily="34" charset="-122"/>
                <a:ea typeface="微软雅黑" panose="020B0503020204020204" pitchFamily="34" charset="-122"/>
              </a:rPr>
              <a:t>策略知识库</a:t>
            </a:r>
          </a:p>
        </p:txBody>
      </p:sp>
      <p:sp>
        <p:nvSpPr>
          <p:cNvPr id="93" name="矩形 92">
            <a:extLst>
              <a:ext uri="{FF2B5EF4-FFF2-40B4-BE49-F238E27FC236}">
                <a16:creationId xmlns:a16="http://schemas.microsoft.com/office/drawing/2014/main" id="{DEFDD109-17E1-778F-AF96-9A8E1A682899}"/>
              </a:ext>
            </a:extLst>
          </p:cNvPr>
          <p:cNvSpPr/>
          <p:nvPr/>
        </p:nvSpPr>
        <p:spPr>
          <a:xfrm>
            <a:off x="808399" y="5799495"/>
            <a:ext cx="11377930" cy="799706"/>
          </a:xfrm>
          <a:prstGeom prst="rect">
            <a:avLst/>
          </a:prstGeom>
        </p:spPr>
        <p:txBody>
          <a:bodyPr wrap="square">
            <a:spAutoFit/>
          </a:bodyPr>
          <a:lstStyle/>
          <a:p>
            <a:pPr marL="285750" indent="-285750" algn="just">
              <a:lnSpc>
                <a:spcPct val="120000"/>
              </a:lnSpc>
              <a:buFont typeface="Wingdings" panose="05000000000000000000" pitchFamily="2" charset="2"/>
              <a:buChar char="p"/>
            </a:pPr>
            <a:r>
              <a:rPr lang="zh-CN" altLang="en-US" sz="2000" dirty="0"/>
              <a:t>监控智能体输出标准化的“集群</a:t>
            </a:r>
            <a:r>
              <a:rPr lang="zh-CN" altLang="en-US" sz="2000" kern="0" dirty="0">
                <a:solidFill>
                  <a:prstClr val="black"/>
                </a:solidFill>
                <a:latin typeface="微软雅黑" panose="020B0503020204020204" pitchFamily="34" charset="-122"/>
                <a:ea typeface="微软雅黑" panose="020B0503020204020204" pitchFamily="34" charset="-122"/>
              </a:rPr>
              <a:t>状态描述</a:t>
            </a:r>
            <a:r>
              <a:rPr lang="zh-CN" altLang="en-US" sz="2000" dirty="0"/>
              <a:t>”，策略智能体基于这些摘要再结合知识库进行推理</a:t>
            </a:r>
            <a:endParaRPr lang="en-US" altLang="zh-CN" sz="2000" dirty="0"/>
          </a:p>
          <a:p>
            <a:pPr marL="285750" indent="-285750" algn="just">
              <a:lnSpc>
                <a:spcPct val="120000"/>
              </a:lnSpc>
              <a:buFont typeface="Wingdings" panose="05000000000000000000" pitchFamily="2" charset="2"/>
              <a:buChar char="p"/>
            </a:pPr>
            <a:r>
              <a:rPr lang="zh-CN" altLang="en-US" sz="2000" dirty="0"/>
              <a:t>在策略选择智能体中引入了结构化的思维链推理流程。</a:t>
            </a:r>
            <a:endParaRPr lang="zh-CN" altLang="en-US" sz="2000" b="1" dirty="0">
              <a:solidFill>
                <a:srgbClr val="0000CC"/>
              </a:solidFill>
              <a:latin typeface="+mn-ea"/>
              <a:cs typeface="Times New Roman" panose="02020603050405020304" charset="0"/>
              <a:sym typeface="+mn-ea"/>
            </a:endParaRPr>
          </a:p>
        </p:txBody>
      </p:sp>
      <p:sp>
        <p:nvSpPr>
          <p:cNvPr id="95" name="内容占位符 2">
            <a:extLst>
              <a:ext uri="{FF2B5EF4-FFF2-40B4-BE49-F238E27FC236}">
                <a16:creationId xmlns:a16="http://schemas.microsoft.com/office/drawing/2014/main" id="{C7F93AFA-97D4-50AE-730D-A253D5510017}"/>
              </a:ext>
            </a:extLst>
          </p:cNvPr>
          <p:cNvSpPr txBox="1">
            <a:spLocks/>
          </p:cNvSpPr>
          <p:nvPr/>
        </p:nvSpPr>
        <p:spPr>
          <a:xfrm>
            <a:off x="529082" y="5302165"/>
            <a:ext cx="11082483" cy="520528"/>
          </a:xfrm>
          <a:prstGeom prst="rect">
            <a:avLst/>
          </a:prstGeom>
        </p:spPr>
        <p:txBody>
          <a:bodyPr vert="horz" wrap="square" lIns="91440" tIns="0" rIns="91440" bIns="46800" rtlCol="0">
            <a:spAutoFit/>
          </a:bodyPr>
          <a:lstStyle>
            <a:lvl1pPr marL="431800" indent="-431800" algn="l" defTabSz="914400" rtl="0" eaLnBrk="1" latinLnBrk="0" hangingPunct="1">
              <a:lnSpc>
                <a:spcPct val="120000"/>
              </a:lnSpc>
              <a:spcBef>
                <a:spcPts val="0"/>
              </a:spcBef>
              <a:buClr>
                <a:srgbClr val="C00000"/>
              </a:buClr>
              <a:buSzPct val="100000"/>
              <a:buFont typeface="Wingdings" panose="05000000000000000000" pitchFamily="2" charset="2"/>
              <a:buChar char="p"/>
              <a:defRPr lang="zh-CN" altLang="en-US" sz="2800" b="1" kern="0" smtClean="0">
                <a:solidFill>
                  <a:schemeClr val="tx1"/>
                </a:solidFill>
                <a:latin typeface="+mn-lt"/>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lumMod val="10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lumMod val="10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kern="1200" dirty="0">
                <a:latin typeface="+mn-ea"/>
                <a:ea typeface="+mn-ea"/>
                <a:cs typeface="Times New Roman" panose="02020603050405020304" charset="0"/>
              </a:rPr>
              <a:t>方案</a:t>
            </a:r>
          </a:p>
        </p:txBody>
      </p:sp>
      <p:sp>
        <p:nvSpPr>
          <p:cNvPr id="5" name="文本框 4">
            <a:extLst>
              <a:ext uri="{FF2B5EF4-FFF2-40B4-BE49-F238E27FC236}">
                <a16:creationId xmlns:a16="http://schemas.microsoft.com/office/drawing/2014/main" id="{FEEAFF28-7E4A-04AA-3A75-E209AF90B323}"/>
              </a:ext>
            </a:extLst>
          </p:cNvPr>
          <p:cNvSpPr txBox="1"/>
          <p:nvPr/>
        </p:nvSpPr>
        <p:spPr>
          <a:xfrm>
            <a:off x="533122" y="2742888"/>
            <a:ext cx="2066639" cy="2449068"/>
          </a:xfrm>
          <a:prstGeom prst="rect">
            <a:avLst/>
          </a:prstGeom>
          <a:noFill/>
        </p:spPr>
        <p:txBody>
          <a:bodyPr wrap="square" rtlCol="0">
            <a:spAutoFit/>
          </a:bodyPr>
          <a:lstStyle/>
          <a:p>
            <a:pPr>
              <a:lnSpc>
                <a:spcPct val="110000"/>
              </a:lnSpc>
              <a:defRPr/>
            </a:pPr>
            <a:r>
              <a:rPr lang="en-US" altLang="zh-CN" sz="10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rPr>
              <a:t>{'</a:t>
            </a:r>
            <a:r>
              <a:rPr lang="en-US" altLang="zh-CN" sz="1000" dirty="0" err="1">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rPr>
              <a:t>job_id</a:t>
            </a:r>
            <a:r>
              <a:rPr lang="en-US" altLang="zh-CN" sz="10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chemeClr val="accent6">
                    <a:lumMod val="75000"/>
                  </a:schemeClr>
                </a:solidFill>
                <a:latin typeface="Arial" panose="020B0604020202020204" pitchFamily="34" charset="0"/>
                <a:ea typeface="微软雅黑" panose="020B0503020204020204" pitchFamily="34" charset="-122"/>
                <a:cs typeface="Arial" panose="020B0604020202020204" pitchFamily="34" charset="0"/>
              </a:rPr>
              <a:t>'22’</a:t>
            </a:r>
            <a:r>
              <a:rPr lang="en-US" altLang="zh-CN" sz="10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rPr>
              <a:t>,</a:t>
            </a:r>
          </a:p>
          <a:p>
            <a:pPr>
              <a:lnSpc>
                <a:spcPct val="110000"/>
              </a:lnSpc>
              <a:defRPr/>
            </a:pPr>
            <a:r>
              <a:rPr lang="en-US" altLang="zh-CN" sz="10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rPr>
              <a:t> 'scale_factor':</a:t>
            </a:r>
            <a:r>
              <a:rPr lang="en-US" altLang="zh-CN" sz="1000" dirty="0">
                <a:solidFill>
                  <a:schemeClr val="accent6">
                    <a:lumMod val="75000"/>
                  </a:schemeClr>
                </a:solidFill>
                <a:latin typeface="Arial" panose="020B0604020202020204" pitchFamily="34" charset="0"/>
                <a:ea typeface="微软雅黑" panose="020B0503020204020204" pitchFamily="34" charset="-122"/>
                <a:cs typeface="Arial" panose="020B0604020202020204" pitchFamily="34" charset="0"/>
              </a:rPr>
              <a:t>1, </a:t>
            </a:r>
          </a:p>
          <a:p>
            <a:pPr>
              <a:lnSpc>
                <a:spcPct val="110000"/>
              </a:lnSpc>
              <a:defRPr/>
            </a:pPr>
            <a:r>
              <a:rPr lang="en-US" altLang="zh-CN" sz="10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rPr>
              <a:t>'priority': </a:t>
            </a:r>
            <a:r>
              <a:rPr lang="en-US" altLang="zh-CN" sz="1000" dirty="0">
                <a:solidFill>
                  <a:schemeClr val="accent6">
                    <a:lumMod val="75000"/>
                  </a:schemeClr>
                </a:solidFill>
                <a:latin typeface="Arial" panose="020B0604020202020204" pitchFamily="34" charset="0"/>
                <a:ea typeface="微软雅黑" panose="020B0503020204020204" pitchFamily="34" charset="-122"/>
                <a:cs typeface="Arial" panose="020B0604020202020204" pitchFamily="34" charset="0"/>
              </a:rPr>
              <a:t>1.0, </a:t>
            </a:r>
          </a:p>
          <a:p>
            <a:pPr>
              <a:lnSpc>
                <a:spcPct val="110000"/>
              </a:lnSpc>
              <a:defRPr/>
            </a:pPr>
            <a:r>
              <a:rPr lang="en-US" altLang="zh-CN" sz="10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rPr>
              <a:t>'</a:t>
            </a:r>
            <a:r>
              <a:rPr lang="en-US" altLang="zh-CN" sz="1000" dirty="0" err="1">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rPr>
              <a:t>remaining_steps</a:t>
            </a:r>
            <a:r>
              <a:rPr lang="en-US" altLang="zh-CN" sz="10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chemeClr val="accent6">
                    <a:lumMod val="75000"/>
                  </a:schemeClr>
                </a:solidFill>
                <a:latin typeface="Arial" panose="020B0604020202020204" pitchFamily="34" charset="0"/>
                <a:ea typeface="微软雅黑" panose="020B0503020204020204" pitchFamily="34" charset="-122"/>
                <a:cs typeface="Arial" panose="020B0604020202020204" pitchFamily="34" charset="0"/>
              </a:rPr>
              <a:t>2455033, </a:t>
            </a:r>
            <a:r>
              <a:rPr lang="en-US" altLang="zh-CN" sz="10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rPr>
              <a:t>'total_steps’:</a:t>
            </a:r>
            <a:r>
              <a:rPr lang="en-US" altLang="zh-CN" sz="1000" dirty="0">
                <a:solidFill>
                  <a:schemeClr val="accent6">
                    <a:lumMod val="75000"/>
                  </a:schemeClr>
                </a:solidFill>
                <a:latin typeface="Arial" panose="020B0604020202020204" pitchFamily="34" charset="0"/>
                <a:ea typeface="微软雅黑" panose="020B0503020204020204" pitchFamily="34" charset="-122"/>
                <a:cs typeface="Arial" panose="020B0604020202020204" pitchFamily="34" charset="0"/>
              </a:rPr>
              <a:t>10724311,</a:t>
            </a:r>
          </a:p>
          <a:p>
            <a:pPr>
              <a:lnSpc>
                <a:spcPct val="110000"/>
              </a:lnSpc>
              <a:defRPr/>
            </a:pPr>
            <a:r>
              <a:rPr lang="en-US" altLang="zh-CN" sz="1000" dirty="0">
                <a:solidFill>
                  <a:schemeClr val="accent6">
                    <a:lumMod val="75000"/>
                  </a:schemeClr>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rPr>
              <a:t>'SLO': </a:t>
            </a:r>
            <a:r>
              <a:rPr lang="en-US" altLang="zh-CN" sz="1000" dirty="0">
                <a:solidFill>
                  <a:schemeClr val="accent6">
                    <a:lumMod val="75000"/>
                  </a:schemeClr>
                </a:solidFill>
                <a:latin typeface="Arial" panose="020B0604020202020204" pitchFamily="34" charset="0"/>
                <a:ea typeface="微软雅黑" panose="020B0503020204020204" pitchFamily="34" charset="-122"/>
                <a:cs typeface="Arial" panose="020B0604020202020204" pitchFamily="34" charset="0"/>
              </a:rPr>
              <a:t>100</a:t>
            </a:r>
            <a:r>
              <a:rPr lang="en-US" altLang="zh-CN" sz="10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rPr>
              <a:t>, </a:t>
            </a:r>
          </a:p>
          <a:p>
            <a:pPr>
              <a:lnSpc>
                <a:spcPct val="110000"/>
              </a:lnSpc>
              <a:defRPr/>
            </a:pPr>
            <a:r>
              <a:rPr lang="en-US" altLang="zh-CN" sz="10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rPr>
              <a:t>'</a:t>
            </a:r>
            <a:r>
              <a:rPr lang="en-US" altLang="zh-CN" sz="1000" dirty="0" err="1">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rPr>
              <a:t>worker_types</a:t>
            </a:r>
            <a:r>
              <a:rPr lang="en-US" altLang="zh-CN" sz="1000" dirty="0">
                <a:solidFill>
                  <a:schemeClr val="accent2">
                    <a:lumMod val="75000"/>
                  </a:schemeClr>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chemeClr val="accent6">
                    <a:lumMod val="75000"/>
                  </a:schemeClr>
                </a:solidFill>
                <a:latin typeface="Arial" panose="020B0604020202020204" pitchFamily="34" charset="0"/>
                <a:ea typeface="微软雅黑" panose="020B0503020204020204" pitchFamily="34" charset="-122"/>
                <a:cs typeface="Arial" panose="020B0604020202020204" pitchFamily="34" charset="0"/>
              </a:rPr>
              <a:t>{'v100':</a:t>
            </a:r>
          </a:p>
          <a:p>
            <a:pPr>
              <a:lnSpc>
                <a:spcPct val="110000"/>
              </a:lnSpc>
              <a:defRPr/>
            </a:pPr>
            <a:r>
              <a:rPr lang="en-US" altLang="zh-CN" sz="1000" dirty="0">
                <a:solidFill>
                  <a:schemeClr val="accent6">
                    <a:lumMod val="75000"/>
                  </a:schemeClr>
                </a:solidFill>
                <a:latin typeface="Arial" panose="020B0604020202020204" pitchFamily="34" charset="0"/>
                <a:ea typeface="微软雅黑" panose="020B0503020204020204" pitchFamily="34" charset="-122"/>
                <a:cs typeface="Arial" panose="020B0604020202020204" pitchFamily="34" charset="0"/>
              </a:rPr>
              <a:t>{'throughput': 17.994906225052176}, 'k80': {'throughput':1.8065297880422846},</a:t>
            </a:r>
          </a:p>
          <a:p>
            <a:pPr>
              <a:lnSpc>
                <a:spcPct val="110000"/>
              </a:lnSpc>
              <a:defRPr/>
            </a:pPr>
            <a:r>
              <a:rPr lang="en-US" altLang="zh-CN" sz="1000" dirty="0">
                <a:solidFill>
                  <a:schemeClr val="accent6">
                    <a:lumMod val="75000"/>
                  </a:schemeClr>
                </a:solidFill>
                <a:latin typeface="Arial" panose="020B0604020202020204" pitchFamily="34" charset="0"/>
                <a:ea typeface="微软雅黑" panose="020B0503020204020204" pitchFamily="34" charset="-122"/>
                <a:cs typeface="Arial" panose="020B0604020202020204" pitchFamily="34" charset="0"/>
              </a:rPr>
              <a:t>'p100': {'throughput':11.675499943575447}</a:t>
            </a:r>
          </a:p>
        </p:txBody>
      </p:sp>
      <p:cxnSp>
        <p:nvCxnSpPr>
          <p:cNvPr id="6" name="直接箭头连接符 5">
            <a:extLst>
              <a:ext uri="{FF2B5EF4-FFF2-40B4-BE49-F238E27FC236}">
                <a16:creationId xmlns:a16="http://schemas.microsoft.com/office/drawing/2014/main" id="{CFB8C489-12B9-3107-8C6B-CB1448892C03}"/>
              </a:ext>
            </a:extLst>
          </p:cNvPr>
          <p:cNvCxnSpPr>
            <a:cxnSpLocks/>
          </p:cNvCxnSpPr>
          <p:nvPr>
            <p:custDataLst>
              <p:tags r:id="rId14"/>
            </p:custDataLst>
          </p:nvPr>
        </p:nvCxnSpPr>
        <p:spPr>
          <a:xfrm>
            <a:off x="2572837" y="3967422"/>
            <a:ext cx="749579"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 name="图片 14">
            <a:extLst>
              <a:ext uri="{FF2B5EF4-FFF2-40B4-BE49-F238E27FC236}">
                <a16:creationId xmlns:a16="http://schemas.microsoft.com/office/drawing/2014/main" id="{6163E580-88D9-74DC-8CC0-25BBC0E530E7}"/>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2585492" y="2778230"/>
            <a:ext cx="583203" cy="583203"/>
          </a:xfrm>
          <a:prstGeom prst="rect">
            <a:avLst/>
          </a:prstGeom>
        </p:spPr>
      </p:pic>
      <p:cxnSp>
        <p:nvCxnSpPr>
          <p:cNvPr id="18" name="直接箭头连接符 17">
            <a:extLst>
              <a:ext uri="{FF2B5EF4-FFF2-40B4-BE49-F238E27FC236}">
                <a16:creationId xmlns:a16="http://schemas.microsoft.com/office/drawing/2014/main" id="{DF8FDB5B-E70F-F6F1-62B0-7E88D46E53F6}"/>
              </a:ext>
            </a:extLst>
          </p:cNvPr>
          <p:cNvCxnSpPr>
            <a:cxnSpLocks/>
          </p:cNvCxnSpPr>
          <p:nvPr>
            <p:custDataLst>
              <p:tags r:id="rId15"/>
            </p:custDataLst>
          </p:nvPr>
        </p:nvCxnSpPr>
        <p:spPr>
          <a:xfrm>
            <a:off x="3305194" y="3117133"/>
            <a:ext cx="385188" cy="24328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365">
            <a:extLst>
              <a:ext uri="{FF2B5EF4-FFF2-40B4-BE49-F238E27FC236}">
                <a16:creationId xmlns:a16="http://schemas.microsoft.com/office/drawing/2014/main" id="{A0D63F5B-ADC8-7CB8-6C77-ABC8F0186936}"/>
              </a:ext>
            </a:extLst>
          </p:cNvPr>
          <p:cNvSpPr txBox="1"/>
          <p:nvPr>
            <p:custDataLst>
              <p:tags r:id="rId16"/>
            </p:custDataLst>
          </p:nvPr>
        </p:nvSpPr>
        <p:spPr>
          <a:xfrm>
            <a:off x="1227514" y="5047765"/>
            <a:ext cx="608602" cy="183757"/>
          </a:xfrm>
          <a:prstGeom prst="rect">
            <a:avLst/>
          </a:prstGeom>
          <a:solidFill>
            <a:schemeClr val="accent1">
              <a:lumMod val="40000"/>
              <a:lumOff val="60000"/>
            </a:schemeClr>
          </a:solidFill>
        </p:spPr>
        <p:txBody>
          <a:bodyPr wrap="square" lIns="0" tIns="0" rIns="0" bIns="0" anchor="ctr" anchorCtr="0">
            <a:noAutofit/>
          </a:bodyPr>
          <a:lstStyle/>
          <a:p>
            <a:pPr algn="ctr" defTabSz="685800"/>
            <a:r>
              <a:rPr lang="zh-CN" altLang="en-US" sz="1200" kern="0" dirty="0">
                <a:solidFill>
                  <a:prstClr val="black"/>
                </a:solidFill>
                <a:latin typeface="微软雅黑" panose="020B0503020204020204" pitchFamily="34" charset="-122"/>
                <a:ea typeface="微软雅黑" panose="020B0503020204020204" pitchFamily="34" charset="-122"/>
              </a:rPr>
              <a:t>数据</a:t>
            </a:r>
          </a:p>
        </p:txBody>
      </p:sp>
      <p:sp>
        <p:nvSpPr>
          <p:cNvPr id="20" name="文本框 365">
            <a:extLst>
              <a:ext uri="{FF2B5EF4-FFF2-40B4-BE49-F238E27FC236}">
                <a16:creationId xmlns:a16="http://schemas.microsoft.com/office/drawing/2014/main" id="{50F9CF2B-5741-03E1-1265-581C170F1427}"/>
              </a:ext>
            </a:extLst>
          </p:cNvPr>
          <p:cNvSpPr txBox="1"/>
          <p:nvPr>
            <p:custDataLst>
              <p:tags r:id="rId17"/>
            </p:custDataLst>
          </p:nvPr>
        </p:nvSpPr>
        <p:spPr>
          <a:xfrm>
            <a:off x="2589989" y="3415196"/>
            <a:ext cx="763204" cy="183757"/>
          </a:xfrm>
          <a:prstGeom prst="rect">
            <a:avLst/>
          </a:prstGeom>
          <a:solidFill>
            <a:schemeClr val="accent1">
              <a:lumMod val="40000"/>
              <a:lumOff val="60000"/>
            </a:schemeClr>
          </a:solidFill>
        </p:spPr>
        <p:txBody>
          <a:bodyPr wrap="square" lIns="0" tIns="0" rIns="0" bIns="0" anchor="ctr" anchorCtr="0">
            <a:noAutofit/>
          </a:bodyPr>
          <a:lstStyle/>
          <a:p>
            <a:pPr algn="ctr" defTabSz="685800"/>
            <a:r>
              <a:rPr lang="zh-CN" altLang="en-US" sz="1200" kern="0" dirty="0">
                <a:solidFill>
                  <a:prstClr val="black"/>
                </a:solidFill>
                <a:latin typeface="微软雅黑" panose="020B0503020204020204" pitchFamily="34" charset="-122"/>
                <a:ea typeface="微软雅黑" panose="020B0503020204020204" pitchFamily="34" charset="-122"/>
              </a:rPr>
              <a:t>用户需求</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195A0-1E5B-1D8D-457C-754E6C26B670}"/>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E10C43AD-D5C1-F6AF-2C7D-0B4551790EEF}"/>
              </a:ext>
            </a:extLst>
          </p:cNvPr>
          <p:cNvSpPr>
            <a:spLocks noGrp="1"/>
          </p:cNvSpPr>
          <p:nvPr>
            <p:ph sz="quarter" idx="14"/>
          </p:nvPr>
        </p:nvSpPr>
        <p:spPr>
          <a:xfrm>
            <a:off x="304800" y="949936"/>
            <a:ext cx="11651848" cy="520528"/>
          </a:xfrm>
        </p:spPr>
        <p:txBody>
          <a:bodyPr/>
          <a:lstStyle/>
          <a:p>
            <a:r>
              <a:rPr lang="zh-CN" altLang="en-US" kern="1200" dirty="0">
                <a:latin typeface="+mn-ea"/>
                <a:ea typeface="+mn-ea"/>
                <a:cs typeface="Times New Roman" panose="02020603050405020304" charset="0"/>
              </a:rPr>
              <a:t>实验</a:t>
            </a:r>
          </a:p>
        </p:txBody>
      </p:sp>
      <p:sp>
        <p:nvSpPr>
          <p:cNvPr id="4" name="内容占位符 1">
            <a:extLst>
              <a:ext uri="{FF2B5EF4-FFF2-40B4-BE49-F238E27FC236}">
                <a16:creationId xmlns:a16="http://schemas.microsoft.com/office/drawing/2014/main" id="{0A9F81AB-BA43-9383-CA87-E1572458A5FC}"/>
              </a:ext>
            </a:extLst>
          </p:cNvPr>
          <p:cNvSpPr>
            <a:spLocks noGrp="1"/>
          </p:cNvSpPr>
          <p:nvPr>
            <p:ph sz="quarter" idx="13"/>
          </p:nvPr>
        </p:nvSpPr>
        <p:spPr>
          <a:xfrm>
            <a:off x="304800" y="187325"/>
            <a:ext cx="10340975" cy="666750"/>
          </a:xfrm>
        </p:spPr>
        <p:txBody>
          <a:bodyPr anchor="b" anchorCtr="0">
            <a:noAutofit/>
          </a:bodyPr>
          <a:lstStyle/>
          <a:p>
            <a:pPr>
              <a:lnSpc>
                <a:spcPct val="110000"/>
              </a:lnSpc>
            </a:pPr>
            <a:r>
              <a:rPr lang="zh-CN" altLang="en-US" dirty="0">
                <a:latin typeface="+mn-ea"/>
                <a:cs typeface="Times New Roman" panose="02020603050405020304" charset="0"/>
              </a:rPr>
              <a:t>基于大模型多智能体</a:t>
            </a:r>
            <a:r>
              <a:rPr lang="zh-CN" altLang="en-US" dirty="0">
                <a:ln w="0"/>
                <a:effectLst>
                  <a:outerShdw blurRad="38100" dist="19050" dir="2700000" algn="tl" rotWithShape="0">
                    <a:prstClr val="black">
                      <a:alpha val="40000"/>
                    </a:prstClr>
                  </a:outerShdw>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的调度系统</a:t>
            </a:r>
            <a:endParaRPr lang="zh-CN" altLang="en-US" dirty="0">
              <a:latin typeface="+mn-ea"/>
              <a:cs typeface="Times New Roman" panose="02020603050405020304" charset="0"/>
            </a:endParaRPr>
          </a:p>
        </p:txBody>
      </p:sp>
      <p:sp>
        <p:nvSpPr>
          <p:cNvPr id="2" name="内容占位符 2">
            <a:extLst>
              <a:ext uri="{FF2B5EF4-FFF2-40B4-BE49-F238E27FC236}">
                <a16:creationId xmlns:a16="http://schemas.microsoft.com/office/drawing/2014/main" id="{7F2D83AB-9D60-132F-0B5B-0918CF0B07B5}"/>
              </a:ext>
            </a:extLst>
          </p:cNvPr>
          <p:cNvSpPr txBox="1">
            <a:spLocks/>
          </p:cNvSpPr>
          <p:nvPr/>
        </p:nvSpPr>
        <p:spPr>
          <a:xfrm>
            <a:off x="821084" y="1444438"/>
            <a:ext cx="11651848" cy="520528"/>
          </a:xfrm>
          <a:prstGeom prst="rect">
            <a:avLst/>
          </a:prstGeom>
        </p:spPr>
        <p:txBody>
          <a:bodyPr vert="horz" wrap="square" lIns="91440" tIns="0" rIns="91440" bIns="46800" rtlCol="0">
            <a:spAutoFit/>
          </a:bodyPr>
          <a:lstStyle>
            <a:lvl1pPr marL="431800" indent="-431800" algn="l" defTabSz="914400" rtl="0" eaLnBrk="1" latinLnBrk="0" hangingPunct="1">
              <a:lnSpc>
                <a:spcPct val="120000"/>
              </a:lnSpc>
              <a:spcBef>
                <a:spcPts val="0"/>
              </a:spcBef>
              <a:buClr>
                <a:srgbClr val="C00000"/>
              </a:buClr>
              <a:buSzPct val="100000"/>
              <a:buFont typeface="Wingdings" panose="05000000000000000000" pitchFamily="2" charset="2"/>
              <a:buChar char="p"/>
              <a:defRPr lang="zh-CN" altLang="en-US" sz="2800" b="1" kern="0" smtClean="0">
                <a:solidFill>
                  <a:schemeClr val="tx1"/>
                </a:solidFill>
                <a:latin typeface="+mn-lt"/>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lumMod val="10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lumMod val="10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kern="1200" dirty="0">
                <a:latin typeface="+mn-ea"/>
                <a:ea typeface="+mn-ea"/>
                <a:cs typeface="Times New Roman" panose="02020603050405020304" charset="0"/>
              </a:rPr>
              <a:t>模拟器设置</a:t>
            </a:r>
            <a:endParaRPr lang="en-US" altLang="zh-CN" kern="1200" dirty="0">
              <a:latin typeface="+mn-ea"/>
              <a:ea typeface="+mn-ea"/>
              <a:cs typeface="Times New Roman" panose="02020603050405020304" charset="0"/>
            </a:endParaRPr>
          </a:p>
        </p:txBody>
      </p:sp>
      <p:sp>
        <p:nvSpPr>
          <p:cNvPr id="5" name="矩形 4">
            <a:extLst>
              <a:ext uri="{FF2B5EF4-FFF2-40B4-BE49-F238E27FC236}">
                <a16:creationId xmlns:a16="http://schemas.microsoft.com/office/drawing/2014/main" id="{2274DB76-42B9-D6B8-FE2F-B2FF980EDC74}"/>
              </a:ext>
            </a:extLst>
          </p:cNvPr>
          <p:cNvSpPr/>
          <p:nvPr/>
        </p:nvSpPr>
        <p:spPr>
          <a:xfrm>
            <a:off x="821084" y="2047936"/>
            <a:ext cx="10904855" cy="4939365"/>
          </a:xfrm>
          <a:prstGeom prst="rect">
            <a:avLst/>
          </a:prstGeom>
        </p:spPr>
        <p:txBody>
          <a:bodyPr wrap="square">
            <a:spAutoFit/>
          </a:bodyPr>
          <a:lstStyle/>
          <a:p>
            <a:pPr algn="just">
              <a:lnSpc>
                <a:spcPct val="120000"/>
              </a:lnSpc>
            </a:pPr>
            <a:r>
              <a:rPr lang="en-US" altLang="zh-CN" dirty="0"/>
              <a:t>Gavel </a:t>
            </a:r>
            <a:r>
              <a:rPr lang="zh-CN" altLang="en-US" dirty="0"/>
              <a:t>模拟器在 </a:t>
            </a:r>
            <a:r>
              <a:rPr lang="en-US" altLang="zh-CN" dirty="0"/>
              <a:t>108 </a:t>
            </a:r>
            <a:r>
              <a:rPr lang="zh-CN" altLang="en-US" dirty="0"/>
              <a:t>张异构 </a:t>
            </a:r>
            <a:r>
              <a:rPr lang="en-US" altLang="zh-CN" dirty="0"/>
              <a:t>GPU</a:t>
            </a:r>
            <a:r>
              <a:rPr lang="zh-CN" altLang="en-US" dirty="0"/>
              <a:t>（</a:t>
            </a:r>
            <a:r>
              <a:rPr lang="en-US" altLang="zh-CN" dirty="0"/>
              <a:t>36 V100</a:t>
            </a:r>
            <a:r>
              <a:rPr lang="zh-CN" altLang="en-US" dirty="0"/>
              <a:t>＋</a:t>
            </a:r>
            <a:r>
              <a:rPr lang="en-US" altLang="zh-CN" dirty="0"/>
              <a:t>36 P100</a:t>
            </a:r>
            <a:r>
              <a:rPr lang="zh-CN" altLang="en-US" dirty="0"/>
              <a:t>＋</a:t>
            </a:r>
            <a:r>
              <a:rPr lang="en-US" altLang="zh-CN" dirty="0"/>
              <a:t>36 K80</a:t>
            </a:r>
            <a:r>
              <a:rPr lang="zh-CN" altLang="en-US" dirty="0"/>
              <a:t>）的框架内，以 </a:t>
            </a:r>
            <a:r>
              <a:rPr lang="en-US" altLang="zh-CN" dirty="0"/>
              <a:t>100 Gbps </a:t>
            </a:r>
            <a:r>
              <a:rPr lang="zh-CN" altLang="en-US" dirty="0"/>
              <a:t>网络和 </a:t>
            </a:r>
            <a:r>
              <a:rPr lang="en-US" altLang="zh-CN" dirty="0"/>
              <a:t>6 min </a:t>
            </a:r>
            <a:r>
              <a:rPr lang="zh-CN" altLang="en-US" dirty="0"/>
              <a:t>抢占周期对集群行为进行建模。模拟器的输入包括集群配置（如</a:t>
            </a:r>
            <a:r>
              <a:rPr lang="en-US" altLang="zh-CN" dirty="0"/>
              <a:t>V100</a:t>
            </a:r>
            <a:r>
              <a:rPr lang="zh-CN" altLang="en-US" dirty="0"/>
              <a:t>、</a:t>
            </a:r>
            <a:r>
              <a:rPr lang="en-US" altLang="zh-CN" dirty="0"/>
              <a:t>P100</a:t>
            </a:r>
            <a:r>
              <a:rPr lang="zh-CN" altLang="en-US" dirty="0"/>
              <a:t>、</a:t>
            </a:r>
            <a:r>
              <a:rPr lang="en-US" altLang="zh-CN" dirty="0"/>
              <a:t>K80</a:t>
            </a:r>
            <a:r>
              <a:rPr lang="zh-CN" altLang="en-US" dirty="0"/>
              <a:t>等</a:t>
            </a:r>
            <a:r>
              <a:rPr lang="en-US" altLang="zh-CN" dirty="0"/>
              <a:t>GPU</a:t>
            </a:r>
            <a:r>
              <a:rPr lang="zh-CN" altLang="en-US" dirty="0"/>
              <a:t>的类型与数量）、作业到达时间（通过</a:t>
            </a:r>
            <a:r>
              <a:rPr lang="en-US" altLang="zh-CN" dirty="0"/>
              <a:t>Poisson</a:t>
            </a:r>
            <a:r>
              <a:rPr lang="zh-CN" altLang="en-US" dirty="0"/>
              <a:t>过程生成）、每个作业的模型类型、</a:t>
            </a:r>
            <a:r>
              <a:rPr lang="en-US" altLang="zh-CN" dirty="0"/>
              <a:t>batch size</a:t>
            </a:r>
            <a:r>
              <a:rPr lang="zh-CN" altLang="en-US" dirty="0"/>
              <a:t>和</a:t>
            </a:r>
            <a:r>
              <a:rPr lang="en-US" altLang="zh-CN" dirty="0"/>
              <a:t>worker</a:t>
            </a:r>
            <a:r>
              <a:rPr lang="zh-CN" altLang="en-US" dirty="0"/>
              <a:t>数量，以及每个作业在不同</a:t>
            </a:r>
            <a:r>
              <a:rPr lang="en-US" altLang="zh-CN" dirty="0"/>
              <a:t>GPU</a:t>
            </a:r>
            <a:r>
              <a:rPr lang="zh-CN" altLang="en-US" dirty="0"/>
              <a:t>上的</a:t>
            </a:r>
            <a:r>
              <a:rPr lang="en-US" altLang="zh-CN" dirty="0"/>
              <a:t>throughput</a:t>
            </a:r>
            <a:r>
              <a:rPr lang="zh-CN" altLang="en-US" dirty="0"/>
              <a:t>（来自真实测量或预估值）。</a:t>
            </a:r>
            <a:endParaRPr lang="en-US" altLang="zh-CN" dirty="0"/>
          </a:p>
          <a:p>
            <a:pPr fontAlgn="base"/>
            <a:r>
              <a:rPr lang="en-US" altLang="zh-CN" dirty="0"/>
              <a:t>throughput </a:t>
            </a:r>
            <a:r>
              <a:rPr lang="zh-CN" altLang="en-US" dirty="0"/>
              <a:t>指每秒处理的训练迭代次数（</a:t>
            </a:r>
            <a:r>
              <a:rPr lang="en-US" altLang="zh-CN" dirty="0"/>
              <a:t>iterations/second</a:t>
            </a:r>
            <a:r>
              <a:rPr lang="zh-CN" altLang="en-US" dirty="0"/>
              <a:t>），作业在</a:t>
            </a:r>
            <a:r>
              <a:rPr lang="en-US" altLang="zh-CN" dirty="0"/>
              <a:t>GPU</a:t>
            </a:r>
            <a:r>
              <a:rPr lang="zh-CN" altLang="en-US" dirty="0"/>
              <a:t>上的 </a:t>
            </a:r>
            <a:r>
              <a:rPr lang="en-US" altLang="zh-CN" dirty="0"/>
              <a:t>throughput</a:t>
            </a:r>
            <a:r>
              <a:rPr lang="zh-CN" altLang="en-US" dirty="0"/>
              <a:t>是通过实际运行测量或预估值获得。在真实 </a:t>
            </a:r>
            <a:r>
              <a:rPr lang="en-US" altLang="zh-CN" dirty="0"/>
              <a:t>GPU </a:t>
            </a:r>
            <a:r>
              <a:rPr lang="zh-CN" altLang="en-US" dirty="0"/>
              <a:t>上运行每个模型，记录其在不同 </a:t>
            </a:r>
            <a:r>
              <a:rPr lang="en-US" altLang="zh-CN" dirty="0"/>
              <a:t>GPU </a:t>
            </a:r>
            <a:r>
              <a:rPr lang="zh-CN" altLang="en-US" dirty="0"/>
              <a:t>上的 </a:t>
            </a:r>
            <a:r>
              <a:rPr lang="en-US" altLang="zh-CN" dirty="0"/>
              <a:t>throughput</a:t>
            </a:r>
            <a:r>
              <a:rPr lang="zh-CN" altLang="en-US" dirty="0"/>
              <a:t>。未知作业将新作业与一组预 </a:t>
            </a:r>
            <a:r>
              <a:rPr lang="en-US" altLang="zh-CN" dirty="0"/>
              <a:t>profiling </a:t>
            </a:r>
            <a:r>
              <a:rPr lang="zh-CN" altLang="en-US" dirty="0"/>
              <a:t>的参考作业进行特征比对（如模型结构、</a:t>
            </a:r>
            <a:r>
              <a:rPr lang="en-US" altLang="zh-CN" dirty="0"/>
              <a:t>batch size</a:t>
            </a:r>
            <a:r>
              <a:rPr lang="zh-CN" altLang="en-US" dirty="0"/>
              <a:t>、内存使用等）。</a:t>
            </a:r>
          </a:p>
          <a:p>
            <a:pPr fontAlgn="base"/>
            <a:r>
              <a:rPr lang="zh-CN" altLang="en-US" dirty="0"/>
              <a:t>找到最相似的参考作业，借用其 </a:t>
            </a:r>
            <a:r>
              <a:rPr lang="en-US" altLang="zh-CN" dirty="0"/>
              <a:t>throughput </a:t>
            </a:r>
            <a:r>
              <a:rPr lang="zh-CN" altLang="en-US" dirty="0"/>
              <a:t>数据作为估算值。</a:t>
            </a:r>
            <a:endParaRPr lang="en-US" altLang="zh-CN" dirty="0"/>
          </a:p>
          <a:p>
            <a:pPr fontAlgn="base"/>
            <a:r>
              <a:rPr lang="en-US" altLang="zh-CN" dirty="0"/>
              <a:t>throughput </a:t>
            </a:r>
            <a:r>
              <a:rPr lang="zh-CN" altLang="en-US" dirty="0"/>
              <a:t>数据来自真实异构集群：</a:t>
            </a:r>
            <a:r>
              <a:rPr lang="en-US" altLang="zh-CN" dirty="0"/>
              <a:t>8 </a:t>
            </a:r>
            <a:r>
              <a:rPr lang="zh-CN" altLang="en-US" dirty="0"/>
              <a:t>张 </a:t>
            </a:r>
            <a:r>
              <a:rPr lang="en-US" altLang="zh-CN" dirty="0"/>
              <a:t>V100</a:t>
            </a:r>
            <a:r>
              <a:rPr lang="zh-CN" altLang="en-US" dirty="0"/>
              <a:t>、</a:t>
            </a:r>
            <a:r>
              <a:rPr lang="en-US" altLang="zh-CN" dirty="0"/>
              <a:t>16 </a:t>
            </a:r>
            <a:r>
              <a:rPr lang="zh-CN" altLang="en-US" dirty="0"/>
              <a:t>张 </a:t>
            </a:r>
            <a:r>
              <a:rPr lang="en-US" altLang="zh-CN" dirty="0"/>
              <a:t>P100 </a:t>
            </a:r>
            <a:r>
              <a:rPr lang="zh-CN" altLang="en-US" dirty="0"/>
              <a:t>和 </a:t>
            </a:r>
            <a:r>
              <a:rPr lang="en-US" altLang="zh-CN" dirty="0"/>
              <a:t>24 </a:t>
            </a:r>
            <a:r>
              <a:rPr lang="zh-CN" altLang="en-US" dirty="0"/>
              <a:t>张 </a:t>
            </a:r>
            <a:r>
              <a:rPr lang="en-US" altLang="zh-CN" dirty="0"/>
              <a:t>K80</a:t>
            </a:r>
            <a:r>
              <a:rPr lang="zh-CN" altLang="en-US" dirty="0"/>
              <a:t>，共 </a:t>
            </a:r>
            <a:r>
              <a:rPr lang="en-US" altLang="zh-CN" dirty="0"/>
              <a:t>48 </a:t>
            </a:r>
            <a:r>
              <a:rPr lang="zh-CN" altLang="en-US" dirty="0"/>
              <a:t>块 </a:t>
            </a:r>
            <a:r>
              <a:rPr lang="en-US" altLang="zh-CN" dirty="0"/>
              <a:t>GPU</a:t>
            </a:r>
            <a:r>
              <a:rPr lang="zh-CN" altLang="en-US" dirty="0"/>
              <a:t>。所有模型先在该集群上短时实测（几分钟）获得单卡与共置情况下的迭代速度，再把这些测量值喂给模拟器；后续模拟结果（</a:t>
            </a:r>
            <a:r>
              <a:rPr lang="en-US" altLang="zh-CN" dirty="0"/>
              <a:t>JCT</a:t>
            </a:r>
            <a:r>
              <a:rPr lang="zh-CN" altLang="en-US" dirty="0"/>
              <a:t>、</a:t>
            </a:r>
            <a:r>
              <a:rPr lang="en-US" altLang="zh-CN" dirty="0" err="1"/>
              <a:t>makespan</a:t>
            </a:r>
            <a:r>
              <a:rPr lang="en-US" altLang="zh-CN" dirty="0"/>
              <a:t> </a:t>
            </a:r>
            <a:r>
              <a:rPr lang="zh-CN" altLang="en-US" dirty="0"/>
              <a:t>等）与同一套集群跑出的全天 </a:t>
            </a:r>
            <a:r>
              <a:rPr lang="en-US" altLang="zh-CN" dirty="0"/>
              <a:t>100job</a:t>
            </a:r>
            <a:r>
              <a:rPr lang="zh-CN" altLang="en-US" dirty="0"/>
              <a:t>的连续 </a:t>
            </a:r>
            <a:r>
              <a:rPr lang="en-US" altLang="zh-CN" dirty="0"/>
              <a:t>trace</a:t>
            </a:r>
            <a:r>
              <a:rPr lang="zh-CN" altLang="en-US" dirty="0"/>
              <a:t>对比，误差 </a:t>
            </a:r>
            <a:r>
              <a:rPr lang="en-US" altLang="zh-CN" dirty="0"/>
              <a:t>&lt;8%</a:t>
            </a:r>
            <a:r>
              <a:rPr lang="zh-CN" altLang="en-US" dirty="0"/>
              <a:t>。</a:t>
            </a:r>
          </a:p>
          <a:p>
            <a:pPr fontAlgn="base"/>
            <a:endParaRPr lang="zh-CN" altLang="en-US" dirty="0"/>
          </a:p>
          <a:p>
            <a:pPr algn="just">
              <a:lnSpc>
                <a:spcPct val="120000"/>
              </a:lnSpc>
            </a:pPr>
            <a:endParaRPr lang="zh-CN" altLang="en-US" dirty="0"/>
          </a:p>
          <a:p>
            <a:pPr algn="just">
              <a:lnSpc>
                <a:spcPct val="120000"/>
              </a:lnSpc>
            </a:pPr>
            <a:endParaRPr lang="zh-CN" altLang="en-US" dirty="0"/>
          </a:p>
          <a:p>
            <a:pPr algn="just">
              <a:lnSpc>
                <a:spcPct val="120000"/>
              </a:lnSpc>
            </a:pPr>
            <a:endParaRPr lang="zh-CN" altLang="en-US" b="1" dirty="0"/>
          </a:p>
          <a:p>
            <a:pPr algn="just">
              <a:lnSpc>
                <a:spcPct val="120000"/>
              </a:lnSpc>
            </a:pPr>
            <a:endParaRPr lang="zh-CN" altLang="en-US" dirty="0"/>
          </a:p>
        </p:txBody>
      </p:sp>
    </p:spTree>
    <p:extLst>
      <p:ext uri="{BB962C8B-B14F-4D97-AF65-F5344CB8AC3E}">
        <p14:creationId xmlns:p14="http://schemas.microsoft.com/office/powerpoint/2010/main" val="22952265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4"/>
          </p:nvPr>
        </p:nvSpPr>
        <p:spPr>
          <a:xfrm>
            <a:off x="304800" y="949936"/>
            <a:ext cx="11651848" cy="520528"/>
          </a:xfrm>
        </p:spPr>
        <p:txBody>
          <a:bodyPr/>
          <a:lstStyle/>
          <a:p>
            <a:r>
              <a:rPr lang="zh-CN" altLang="en-US" kern="1200" dirty="0">
                <a:latin typeface="+mn-ea"/>
                <a:ea typeface="+mn-ea"/>
                <a:cs typeface="Times New Roman" panose="02020603050405020304" charset="0"/>
              </a:rPr>
              <a:t>实验指标</a:t>
            </a:r>
          </a:p>
        </p:txBody>
      </p:sp>
      <p:sp>
        <p:nvSpPr>
          <p:cNvPr id="4" name="内容占位符 1"/>
          <p:cNvSpPr>
            <a:spLocks noGrp="1"/>
          </p:cNvSpPr>
          <p:nvPr>
            <p:ph sz="quarter" idx="13"/>
          </p:nvPr>
        </p:nvSpPr>
        <p:spPr>
          <a:xfrm>
            <a:off x="304800" y="187325"/>
            <a:ext cx="10340975" cy="666750"/>
          </a:xfrm>
        </p:spPr>
        <p:txBody>
          <a:bodyPr anchor="b" anchorCtr="0">
            <a:noAutofit/>
          </a:bodyPr>
          <a:lstStyle/>
          <a:p>
            <a:pPr>
              <a:lnSpc>
                <a:spcPct val="110000"/>
              </a:lnSpc>
            </a:pPr>
            <a:r>
              <a:rPr lang="zh-CN" altLang="en-US" dirty="0">
                <a:latin typeface="+mn-ea"/>
                <a:cs typeface="Times New Roman" panose="02020603050405020304" charset="0"/>
              </a:rPr>
              <a:t>基于大模型多智能体</a:t>
            </a:r>
            <a:r>
              <a:rPr lang="zh-CN" altLang="en-US" dirty="0">
                <a:ln w="0"/>
                <a:effectLst>
                  <a:outerShdw blurRad="38100" dist="19050" dir="2700000" algn="tl" rotWithShape="0">
                    <a:prstClr val="black">
                      <a:alpha val="40000"/>
                    </a:prstClr>
                  </a:outerShdw>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的调度系统</a:t>
            </a:r>
            <a:endParaRPr lang="zh-CN" altLang="en-US" dirty="0">
              <a:latin typeface="+mn-ea"/>
              <a:cs typeface="Times New Roman" panose="02020603050405020304" charset="0"/>
            </a:endParaRPr>
          </a:p>
        </p:txBody>
      </p:sp>
      <p:sp>
        <p:nvSpPr>
          <p:cNvPr id="26" name="矩形 25"/>
          <p:cNvSpPr/>
          <p:nvPr/>
        </p:nvSpPr>
        <p:spPr>
          <a:xfrm>
            <a:off x="964898" y="4460407"/>
            <a:ext cx="10904855" cy="1061381"/>
          </a:xfrm>
          <a:prstGeom prst="rect">
            <a:avLst/>
          </a:prstGeom>
        </p:spPr>
        <p:txBody>
          <a:bodyPr wrap="square">
            <a:spAutoFit/>
          </a:bodyPr>
          <a:lstStyle/>
          <a:p>
            <a:pPr algn="just">
              <a:lnSpc>
                <a:spcPct val="120000"/>
              </a:lnSpc>
            </a:pPr>
            <a:r>
              <a:rPr lang="zh-CN" altLang="en-US" dirty="0"/>
              <a:t>我们将平均作业完成时间（</a:t>
            </a:r>
            <a:r>
              <a:rPr lang="en-US" altLang="zh-CN" dirty="0"/>
              <a:t>JCT</a:t>
            </a:r>
            <a:r>
              <a:rPr lang="zh-CN" altLang="en-US" dirty="0"/>
              <a:t>）以及系统吞吐量作为衡量策略效率的指标。对于策略的</a:t>
            </a:r>
            <a:r>
              <a:rPr lang="en-US" altLang="zh-CN" dirty="0"/>
              <a:t>SLO</a:t>
            </a:r>
            <a:r>
              <a:rPr lang="zh-CN" altLang="en-US" dirty="0"/>
              <a:t>需求，我们采用</a:t>
            </a:r>
            <a:r>
              <a:rPr lang="en-US" altLang="zh-CN" dirty="0"/>
              <a:t>SLO</a:t>
            </a:r>
            <a:r>
              <a:rPr lang="zh-CN" altLang="en-US" dirty="0"/>
              <a:t>满足率（满足截止时间的作业百分比）作为指标。对于策略的成本需求，我们采用基于</a:t>
            </a:r>
            <a:r>
              <a:rPr lang="en-US" altLang="zh-CN" dirty="0"/>
              <a:t>AWS/GCP</a:t>
            </a:r>
            <a:r>
              <a:rPr lang="zh-CN" altLang="en-US" dirty="0"/>
              <a:t>定价的成本作为指标。</a:t>
            </a:r>
            <a:endParaRPr lang="zh-CN" altLang="en-US" sz="2000" b="1" dirty="0">
              <a:solidFill>
                <a:schemeClr val="tx1"/>
              </a:solidFill>
              <a:latin typeface="+mn-ea"/>
              <a:cs typeface="Times New Roman" panose="02020603050405020304" charset="0"/>
            </a:endParaRPr>
          </a:p>
        </p:txBody>
      </p:sp>
      <p:sp>
        <p:nvSpPr>
          <p:cNvPr id="2" name="内容占位符 2">
            <a:extLst>
              <a:ext uri="{FF2B5EF4-FFF2-40B4-BE49-F238E27FC236}">
                <a16:creationId xmlns:a16="http://schemas.microsoft.com/office/drawing/2014/main" id="{12237554-21A6-1A82-F281-974D95681797}"/>
              </a:ext>
            </a:extLst>
          </p:cNvPr>
          <p:cNvSpPr txBox="1">
            <a:spLocks/>
          </p:cNvSpPr>
          <p:nvPr/>
        </p:nvSpPr>
        <p:spPr>
          <a:xfrm>
            <a:off x="821084" y="1444438"/>
            <a:ext cx="11651848" cy="520528"/>
          </a:xfrm>
          <a:prstGeom prst="rect">
            <a:avLst/>
          </a:prstGeom>
        </p:spPr>
        <p:txBody>
          <a:bodyPr vert="horz" wrap="square" lIns="91440" tIns="0" rIns="91440" bIns="46800" rtlCol="0">
            <a:spAutoFit/>
          </a:bodyPr>
          <a:lstStyle>
            <a:lvl1pPr marL="431800" indent="-431800" algn="l" defTabSz="914400" rtl="0" eaLnBrk="1" latinLnBrk="0" hangingPunct="1">
              <a:lnSpc>
                <a:spcPct val="120000"/>
              </a:lnSpc>
              <a:spcBef>
                <a:spcPts val="0"/>
              </a:spcBef>
              <a:buClr>
                <a:srgbClr val="C00000"/>
              </a:buClr>
              <a:buSzPct val="100000"/>
              <a:buFont typeface="Wingdings" panose="05000000000000000000" pitchFamily="2" charset="2"/>
              <a:buChar char="p"/>
              <a:defRPr lang="zh-CN" altLang="en-US" sz="2800" b="1" kern="0" smtClean="0">
                <a:solidFill>
                  <a:schemeClr val="tx1"/>
                </a:solidFill>
                <a:latin typeface="+mn-lt"/>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lumMod val="10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lumMod val="10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kern="1200" dirty="0">
                <a:latin typeface="+mn-ea"/>
                <a:ea typeface="+mn-ea"/>
                <a:cs typeface="Times New Roman" panose="02020603050405020304" charset="0"/>
              </a:rPr>
              <a:t>场景及负载</a:t>
            </a:r>
            <a:endParaRPr lang="en-US" altLang="zh-CN" kern="1200" dirty="0">
              <a:latin typeface="+mn-ea"/>
              <a:ea typeface="+mn-ea"/>
              <a:cs typeface="Times New Roman" panose="02020603050405020304" charset="0"/>
            </a:endParaRPr>
          </a:p>
        </p:txBody>
      </p:sp>
      <p:sp>
        <p:nvSpPr>
          <p:cNvPr id="5" name="矩形 4">
            <a:extLst>
              <a:ext uri="{FF2B5EF4-FFF2-40B4-BE49-F238E27FC236}">
                <a16:creationId xmlns:a16="http://schemas.microsoft.com/office/drawing/2014/main" id="{BAE0681A-41E4-AEFF-3B93-7194E9D76BF3}"/>
              </a:ext>
            </a:extLst>
          </p:cNvPr>
          <p:cNvSpPr/>
          <p:nvPr/>
        </p:nvSpPr>
        <p:spPr>
          <a:xfrm>
            <a:off x="905759" y="1850228"/>
            <a:ext cx="10904855" cy="2058577"/>
          </a:xfrm>
          <a:prstGeom prst="rect">
            <a:avLst/>
          </a:prstGeom>
        </p:spPr>
        <p:txBody>
          <a:bodyPr wrap="square">
            <a:spAutoFit/>
          </a:bodyPr>
          <a:lstStyle/>
          <a:p>
            <a:pPr algn="just">
              <a:lnSpc>
                <a:spcPct val="120000"/>
              </a:lnSpc>
            </a:pPr>
            <a:r>
              <a:rPr lang="zh-CN" altLang="en-US" dirty="0"/>
              <a:t>在</a:t>
            </a:r>
            <a:r>
              <a:rPr lang="en-US" altLang="zh-CN" dirty="0"/>
              <a:t>gavel</a:t>
            </a:r>
            <a:r>
              <a:rPr lang="zh-CN" altLang="en-US" dirty="0"/>
              <a:t>文中的模拟器上按照按</a:t>
            </a:r>
            <a:r>
              <a:rPr lang="en-US" altLang="zh-CN" dirty="0"/>
              <a:t>36:36:36</a:t>
            </a:r>
            <a:r>
              <a:rPr lang="zh-CN" altLang="en-US" dirty="0"/>
              <a:t>比例配置</a:t>
            </a:r>
            <a:r>
              <a:rPr lang="en-US" altLang="zh-CN" dirty="0"/>
              <a:t>V100</a:t>
            </a:r>
            <a:r>
              <a:rPr lang="zh-CN" altLang="en-US" dirty="0"/>
              <a:t>、</a:t>
            </a:r>
            <a:r>
              <a:rPr lang="en-US" altLang="zh-CN" dirty="0"/>
              <a:t>P100</a:t>
            </a:r>
            <a:r>
              <a:rPr lang="zh-CN" altLang="en-US" dirty="0"/>
              <a:t>和</a:t>
            </a:r>
            <a:r>
              <a:rPr lang="en-US" altLang="zh-CN" dirty="0"/>
              <a:t>K80 GPU</a:t>
            </a:r>
            <a:r>
              <a:rPr lang="zh-CN" altLang="en-US" dirty="0"/>
              <a:t>的异构集群。而负载设计则参考</a:t>
            </a:r>
            <a:r>
              <a:rPr lang="en-US" altLang="zh-CN" dirty="0"/>
              <a:t>Alibaba Cluster Data V2018</a:t>
            </a:r>
            <a:r>
              <a:rPr lang="zh-CN" altLang="en-US" dirty="0"/>
              <a:t>，每条</a:t>
            </a:r>
            <a:r>
              <a:rPr lang="en-US" altLang="zh-CN" dirty="0"/>
              <a:t>Trace</a:t>
            </a:r>
            <a:r>
              <a:rPr lang="zh-CN" altLang="en-US" dirty="0"/>
              <a:t>包含</a:t>
            </a:r>
            <a:r>
              <a:rPr lang="en-US" altLang="zh-CN" dirty="0"/>
              <a:t>500</a:t>
            </a:r>
            <a:r>
              <a:rPr lang="zh-CN" altLang="en-US" dirty="0"/>
              <a:t>个作业，参数从反映真实</a:t>
            </a:r>
            <a:r>
              <a:rPr lang="en-US" altLang="zh-CN" dirty="0"/>
              <a:t>trace</a:t>
            </a:r>
            <a:r>
              <a:rPr lang="zh-CN" altLang="en-US" dirty="0"/>
              <a:t>负载的分布中采样。</a:t>
            </a:r>
            <a:endParaRPr lang="en-US" altLang="zh-CN" dirty="0"/>
          </a:p>
          <a:p>
            <a:pPr algn="just">
              <a:lnSpc>
                <a:spcPct val="120000"/>
              </a:lnSpc>
            </a:pPr>
            <a:r>
              <a:rPr lang="zh-CN" altLang="en-US" dirty="0"/>
              <a:t>任务采取持续向集群添加新任务的方式，时间跨度为</a:t>
            </a:r>
            <a:r>
              <a:rPr lang="en-US" altLang="zh-CN" dirty="0"/>
              <a:t>4-5</a:t>
            </a:r>
            <a:r>
              <a:rPr lang="zh-CN" altLang="en-US" dirty="0"/>
              <a:t>天，确保能够在实验中观测到不同需求模式的作业分布。到达时间服从泊松过程，其到达间隔率参数为</a:t>
            </a:r>
            <a:r>
              <a:rPr lang="en-US" altLang="zh-CN" dirty="0"/>
              <a:t>λ</a:t>
            </a:r>
            <a:r>
              <a:rPr lang="zh-CN" altLang="en-US" dirty="0"/>
              <a:t>，可以通过调整</a:t>
            </a:r>
            <a:r>
              <a:rPr lang="en-US" altLang="zh-CN" dirty="0"/>
              <a:t>λ</a:t>
            </a:r>
            <a:r>
              <a:rPr lang="zh-CN" altLang="en-US" dirty="0"/>
              <a:t>来调整集群的负载，模拟现实集群中的作业需求高低峰交错。作业类型分布为：</a:t>
            </a:r>
            <a:r>
              <a:rPr lang="en-US" altLang="zh-CN" dirty="0"/>
              <a:t>SLO</a:t>
            </a:r>
            <a:r>
              <a:rPr lang="zh-CN" altLang="en-US" dirty="0"/>
              <a:t>严格度均匀分为三档比例为</a:t>
            </a:r>
            <a:r>
              <a:rPr lang="en-US" altLang="zh-CN" dirty="0"/>
              <a:t>1:1:1</a:t>
            </a:r>
            <a:r>
              <a:rPr lang="zh-CN" altLang="en-US" dirty="0"/>
              <a:t>，以测试该框架在不同服务质量要求下的表现。每个作业的规模因子参考微软的公开</a:t>
            </a:r>
            <a:r>
              <a:rPr lang="en-US" altLang="zh-CN" dirty="0"/>
              <a:t>trace</a:t>
            </a:r>
            <a:r>
              <a:rPr lang="zh-CN" altLang="en-US" dirty="0"/>
              <a:t>，</a:t>
            </a:r>
            <a:r>
              <a:rPr lang="en-US" altLang="zh-CN" dirty="0" err="1"/>
              <a:t>scale_factor</a:t>
            </a:r>
            <a:r>
              <a:rPr lang="en-US" altLang="zh-CN" dirty="0"/>
              <a:t> ∈ {1,2,4,8}</a:t>
            </a:r>
            <a:endParaRPr lang="zh-CN" altLang="en-US" sz="2000" b="1" dirty="0">
              <a:solidFill>
                <a:schemeClr val="tx1"/>
              </a:solidFill>
              <a:latin typeface="+mn-ea"/>
              <a:cs typeface="Times New Roman" panose="02020603050405020304" charset="0"/>
            </a:endParaRPr>
          </a:p>
        </p:txBody>
      </p:sp>
      <p:sp>
        <p:nvSpPr>
          <p:cNvPr id="6" name="内容占位符 2">
            <a:extLst>
              <a:ext uri="{FF2B5EF4-FFF2-40B4-BE49-F238E27FC236}">
                <a16:creationId xmlns:a16="http://schemas.microsoft.com/office/drawing/2014/main" id="{20CC3E4A-B963-6EDB-AAF5-D1320094B89E}"/>
              </a:ext>
            </a:extLst>
          </p:cNvPr>
          <p:cNvSpPr txBox="1">
            <a:spLocks/>
          </p:cNvSpPr>
          <p:nvPr/>
        </p:nvSpPr>
        <p:spPr>
          <a:xfrm>
            <a:off x="821084" y="3919163"/>
            <a:ext cx="11651848" cy="520528"/>
          </a:xfrm>
          <a:prstGeom prst="rect">
            <a:avLst/>
          </a:prstGeom>
        </p:spPr>
        <p:txBody>
          <a:bodyPr vert="horz" wrap="square" lIns="91440" tIns="0" rIns="91440" bIns="46800" rtlCol="0">
            <a:spAutoFit/>
          </a:bodyPr>
          <a:lstStyle>
            <a:lvl1pPr marL="431800" indent="-431800" algn="l" defTabSz="914400" rtl="0" eaLnBrk="1" latinLnBrk="0" hangingPunct="1">
              <a:lnSpc>
                <a:spcPct val="120000"/>
              </a:lnSpc>
              <a:spcBef>
                <a:spcPts val="0"/>
              </a:spcBef>
              <a:buClr>
                <a:srgbClr val="C00000"/>
              </a:buClr>
              <a:buSzPct val="100000"/>
              <a:buFont typeface="Wingdings" panose="05000000000000000000" pitchFamily="2" charset="2"/>
              <a:buChar char="p"/>
              <a:defRPr lang="zh-CN" altLang="en-US" sz="2800" b="1" kern="0" smtClean="0">
                <a:solidFill>
                  <a:schemeClr val="tx1"/>
                </a:solidFill>
                <a:latin typeface="+mn-lt"/>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lumMod val="10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lumMod val="10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kern="1200" dirty="0">
                <a:latin typeface="+mn-ea"/>
                <a:ea typeface="+mn-ea"/>
                <a:cs typeface="Times New Roman" panose="02020603050405020304" charset="0"/>
              </a:rPr>
              <a:t>指标</a:t>
            </a:r>
            <a:endParaRPr lang="en-US" altLang="zh-CN" kern="1200" dirty="0">
              <a:latin typeface="+mn-ea"/>
              <a:ea typeface="+mn-ea"/>
              <a:cs typeface="Times New Roman" panose="02020603050405020304" charset="0"/>
            </a:endParaRPr>
          </a:p>
        </p:txBody>
      </p:sp>
      <p:sp>
        <p:nvSpPr>
          <p:cNvPr id="7" name="内容占位符 2">
            <a:extLst>
              <a:ext uri="{FF2B5EF4-FFF2-40B4-BE49-F238E27FC236}">
                <a16:creationId xmlns:a16="http://schemas.microsoft.com/office/drawing/2014/main" id="{5959AA8E-810A-503B-BF05-8FCF5A16384F}"/>
              </a:ext>
            </a:extLst>
          </p:cNvPr>
          <p:cNvSpPr txBox="1">
            <a:spLocks/>
          </p:cNvSpPr>
          <p:nvPr/>
        </p:nvSpPr>
        <p:spPr>
          <a:xfrm>
            <a:off x="905759" y="5550937"/>
            <a:ext cx="11651848" cy="520528"/>
          </a:xfrm>
          <a:prstGeom prst="rect">
            <a:avLst/>
          </a:prstGeom>
        </p:spPr>
        <p:txBody>
          <a:bodyPr vert="horz" wrap="square" lIns="91440" tIns="0" rIns="91440" bIns="46800" rtlCol="0">
            <a:spAutoFit/>
          </a:bodyPr>
          <a:lstStyle>
            <a:lvl1pPr marL="431800" indent="-431800" algn="l" defTabSz="914400" rtl="0" eaLnBrk="1" latinLnBrk="0" hangingPunct="1">
              <a:lnSpc>
                <a:spcPct val="120000"/>
              </a:lnSpc>
              <a:spcBef>
                <a:spcPts val="0"/>
              </a:spcBef>
              <a:buClr>
                <a:srgbClr val="C00000"/>
              </a:buClr>
              <a:buSzPct val="100000"/>
              <a:buFont typeface="Wingdings" panose="05000000000000000000" pitchFamily="2" charset="2"/>
              <a:buChar char="p"/>
              <a:defRPr lang="zh-CN" altLang="en-US" sz="2800" b="1" kern="0" smtClean="0">
                <a:solidFill>
                  <a:schemeClr val="tx1"/>
                </a:solidFill>
                <a:latin typeface="+mn-lt"/>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lumMod val="10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lumMod val="10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lumMod val="10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kern="1200" dirty="0">
                <a:latin typeface="+mn-ea"/>
                <a:ea typeface="+mn-ea"/>
                <a:cs typeface="Times New Roman" panose="02020603050405020304" charset="0"/>
              </a:rPr>
              <a:t>基线</a:t>
            </a:r>
            <a:endParaRPr lang="en-US" altLang="zh-CN" kern="1200" dirty="0">
              <a:latin typeface="+mn-ea"/>
              <a:ea typeface="+mn-ea"/>
              <a:cs typeface="Times New Roman" panose="02020603050405020304" charset="0"/>
            </a:endParaRPr>
          </a:p>
        </p:txBody>
      </p:sp>
      <p:sp>
        <p:nvSpPr>
          <p:cNvPr id="8" name="矩形 7">
            <a:extLst>
              <a:ext uri="{FF2B5EF4-FFF2-40B4-BE49-F238E27FC236}">
                <a16:creationId xmlns:a16="http://schemas.microsoft.com/office/drawing/2014/main" id="{EA91D9F3-B80D-59FD-0474-286E53D9AC20}"/>
              </a:ext>
            </a:extLst>
          </p:cNvPr>
          <p:cNvSpPr/>
          <p:nvPr/>
        </p:nvSpPr>
        <p:spPr>
          <a:xfrm>
            <a:off x="964899" y="6100614"/>
            <a:ext cx="10904855" cy="430374"/>
          </a:xfrm>
          <a:prstGeom prst="rect">
            <a:avLst/>
          </a:prstGeom>
        </p:spPr>
        <p:txBody>
          <a:bodyPr wrap="square">
            <a:spAutoFit/>
          </a:bodyPr>
          <a:lstStyle/>
          <a:p>
            <a:pPr algn="just">
              <a:lnSpc>
                <a:spcPct val="120000"/>
              </a:lnSpc>
            </a:pPr>
            <a:r>
              <a:rPr lang="zh-CN" altLang="en-US" dirty="0"/>
              <a:t>传统算法选择作为基线</a:t>
            </a:r>
            <a:r>
              <a:rPr lang="en-US" altLang="zh-CN" dirty="0"/>
              <a:t> </a:t>
            </a:r>
            <a:r>
              <a:rPr lang="zh-CN" altLang="en-US" dirty="0"/>
              <a:t>。</a:t>
            </a:r>
            <a:r>
              <a:rPr lang="en-US" altLang="zh-CN" dirty="0"/>
              <a:t>AS-LLM</a:t>
            </a:r>
            <a:r>
              <a:rPr lang="zh-CN" altLang="en-US" sz="2000" b="1" dirty="0">
                <a:solidFill>
                  <a:schemeClr val="tx1"/>
                </a:solidFill>
                <a:latin typeface="+mn-ea"/>
                <a:cs typeface="Times New Roman" panose="02020603050405020304" charset="0"/>
              </a:rPr>
              <a:t>，</a:t>
            </a:r>
            <a:r>
              <a:rPr lang="en-US" altLang="zh-CN" dirty="0" err="1"/>
              <a:t>AutoFolio</a:t>
            </a:r>
            <a:r>
              <a:rPr lang="zh-CN" altLang="en-US" dirty="0"/>
              <a:t>，多目标优化框架</a:t>
            </a:r>
            <a:endParaRPr lang="zh-CN" altLang="en-US" sz="2000" b="1" dirty="0">
              <a:solidFill>
                <a:schemeClr val="tx1"/>
              </a:solidFill>
              <a:latin typeface="+mn-ea"/>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48.5867716535433,&quot;left&quot;:84.6,&quot;top&quot;:116.05,&quot;width&quot;:652.1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全部微软雅黑">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kumimoji="1"/>
        </a:defPPr>
      </a:lstStyle>
      <a:style>
        <a:lnRef idx="2">
          <a:schemeClr val="accent6"/>
        </a:lnRef>
        <a:fillRef idx="1">
          <a:schemeClr val="lt1"/>
        </a:fillRef>
        <a:effectRef idx="0">
          <a:schemeClr val="accent6"/>
        </a:effectRef>
        <a:fontRef idx="minor">
          <a:schemeClr val="dk1"/>
        </a:fontRef>
      </a:style>
    </a:spDef>
    <a:txDef>
      <a:spPr>
        <a:noFill/>
      </a:spPr>
      <a:bodyPr wrap="none" rtlCol="0">
        <a:spAutoFit/>
      </a:bodyPr>
      <a:lstStyle>
        <a:defPPr marR="0" algn="l" defTabSz="914400" rtl="0" eaLnBrk="0" fontAlgn="base" latinLnBrk="0" hangingPunct="0">
          <a:lnSpc>
            <a:spcPct val="100000"/>
          </a:lnSpc>
          <a:spcBef>
            <a:spcPts val="1200"/>
          </a:spcBef>
          <a:spcAft>
            <a:spcPts val="600"/>
          </a:spcAft>
          <a:buClr>
            <a:srgbClr val="C00000"/>
          </a:buClr>
          <a:buSzPct val="85000"/>
          <a:defRPr sz="2600" kern="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14308</TotalTime>
  <Words>1102</Words>
  <Application>Microsoft Office PowerPoint</Application>
  <PresentationFormat>宽屏</PresentationFormat>
  <Paragraphs>78</Paragraphs>
  <Slides>7</Slides>
  <Notes>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7</vt:i4>
      </vt:variant>
    </vt:vector>
  </HeadingPairs>
  <TitlesOfParts>
    <vt:vector size="12" baseType="lpstr">
      <vt:lpstr>等线</vt:lpstr>
      <vt:lpstr>微软雅黑</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Chengyuan He</dc:creator>
  <cp:lastModifiedBy>zh y</cp:lastModifiedBy>
  <cp:revision>3848</cp:revision>
  <dcterms:created xsi:type="dcterms:W3CDTF">1900-01-01T00:00:00Z</dcterms:created>
  <dcterms:modified xsi:type="dcterms:W3CDTF">2025-11-27T06:21:46Z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65C5E28C4CE79389DC92E867EEB8A3FF_43</vt:lpwstr>
  </property>
  <property fmtid="{D5CDD505-2E9C-101B-9397-08002B2CF9AE}" pid="3" name="KSOProductBuildVer">
    <vt:lpwstr>2052-12.1.0.22215</vt:lpwstr>
  </property>
</Properties>
</file>